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Play"/>
      <p:regular r:id="rId16"/>
      <p:bold r:id="rId17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font" Target="fonts/Font_1_Play_Regular.fntdata"/><Relationship Id="rId17" Type="http://schemas.openxmlformats.org/officeDocument/2006/relationships/font" Target="fonts/Font_2_Play_Bold.fntdata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Slaytı taşımak için tıklayın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Notların biçimini düzenlemek için tıklayın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324A536-C57A-4A44-97C9-54A683EE71FA}" type="slidenum"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 başlık metnini düzenlemek için tıklayın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Anahat metninin biçimini düzenlemek için tıklayın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İkinci Anahat Düzeyi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Üçüncü Anahat Düzeyi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Dördüncü Anahat Düzeyi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Beşinci Anahat Düzeyi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Altıncı Anahat Düzeyi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Yedinci Anahat Düzeyi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6;p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17;p3"/>
          <p:cNvSpPr/>
          <p:nvPr/>
        </p:nvSpPr>
        <p:spPr>
          <a:xfrm>
            <a:off x="685800" y="952560"/>
            <a:ext cx="75960" cy="4952520"/>
          </a:xfrm>
          <a:prstGeom prst="rect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18;p3"/>
          <p:cNvSpPr/>
          <p:nvPr/>
        </p:nvSpPr>
        <p:spPr>
          <a:xfrm>
            <a:off x="1047600" y="1314360"/>
            <a:ext cx="781020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3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Med-AgentLab</a:t>
            </a:r>
            <a:endParaRPr lang="tr-TR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Google Shape;19;p3"/>
          <p:cNvSpPr/>
          <p:nvPr/>
        </p:nvSpPr>
        <p:spPr>
          <a:xfrm>
            <a:off x="1085760" y="2247840"/>
            <a:ext cx="809604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7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Dağıtık Yapay Zeka Ajanları İçin Maliyet-Etkin MapReduce Orkestrasyon Altyapısı </a:t>
            </a:r>
            <a:endParaRPr lang="tr-T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20;p3"/>
          <p:cNvSpPr/>
          <p:nvPr/>
        </p:nvSpPr>
        <p:spPr>
          <a:xfrm>
            <a:off x="1104840" y="5572080"/>
            <a:ext cx="6095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Final proje sunumu | Samsun Üniversitesi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6;p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27;p4"/>
          <p:cNvSpPr/>
          <p:nvPr/>
        </p:nvSpPr>
        <p:spPr>
          <a:xfrm>
            <a:off x="0" y="0"/>
            <a:ext cx="12191760" cy="95040"/>
          </a:xfrm>
          <a:prstGeom prst="rect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7520" bIns="4752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28;p4"/>
          <p:cNvSpPr/>
          <p:nvPr/>
        </p:nvSpPr>
        <p:spPr>
          <a:xfrm>
            <a:off x="704880" y="34308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MED-AGENTLAB FINAL SUNUM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29;p4"/>
          <p:cNvSpPr/>
          <p:nvPr/>
        </p:nvSpPr>
        <p:spPr>
          <a:xfrm>
            <a:off x="10858680" y="343080"/>
            <a:ext cx="6091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30;p4"/>
          <p:cNvSpPr/>
          <p:nvPr/>
        </p:nvSpPr>
        <p:spPr>
          <a:xfrm>
            <a:off x="704880" y="819000"/>
            <a:ext cx="971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Problem: Klinik görüşmeler çok metin, az zaman üretir</a:t>
            </a:r>
            <a:endParaRPr lang="tr-T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31;p4"/>
          <p:cNvSpPr/>
          <p:nvPr/>
        </p:nvSpPr>
        <p:spPr>
          <a:xfrm>
            <a:off x="723960" y="1428840"/>
            <a:ext cx="9334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Nitel analiz süreci tekrar eden, yoruma açık ve manuel ilerlediğinde zor ölçeklenen bir iş haline gelir.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32;p4"/>
          <p:cNvSpPr/>
          <p:nvPr/>
        </p:nvSpPr>
        <p:spPr>
          <a:xfrm>
            <a:off x="743040" y="2324160"/>
            <a:ext cx="3142800" cy="2342880"/>
          </a:xfrm>
          <a:prstGeom prst="roundRect">
            <a:avLst>
              <a:gd name="adj" fmla="val 3252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33;p4"/>
          <p:cNvSpPr/>
          <p:nvPr/>
        </p:nvSpPr>
        <p:spPr>
          <a:xfrm>
            <a:off x="4514760" y="2324160"/>
            <a:ext cx="3142800" cy="2342880"/>
          </a:xfrm>
          <a:prstGeom prst="roundRect">
            <a:avLst>
              <a:gd name="adj" fmla="val 3252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34;p4"/>
          <p:cNvSpPr/>
          <p:nvPr/>
        </p:nvSpPr>
        <p:spPr>
          <a:xfrm>
            <a:off x="8286840" y="2324160"/>
            <a:ext cx="3142800" cy="2342880"/>
          </a:xfrm>
          <a:prstGeom prst="roundRect">
            <a:avLst>
              <a:gd name="adj" fmla="val 3252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35;p4"/>
          <p:cNvSpPr/>
          <p:nvPr/>
        </p:nvSpPr>
        <p:spPr>
          <a:xfrm>
            <a:off x="990720" y="2571840"/>
            <a:ext cx="6663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C8102E"/>
                </a:solidFill>
                <a:effectLst/>
                <a:uFillTx/>
                <a:latin typeface="Play"/>
                <a:ea typeface="Play"/>
              </a:rPr>
              <a:t>1</a:t>
            </a:r>
            <a:endParaRPr lang="tr-T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36;p4"/>
          <p:cNvSpPr/>
          <p:nvPr/>
        </p:nvSpPr>
        <p:spPr>
          <a:xfrm>
            <a:off x="990720" y="3286080"/>
            <a:ext cx="2285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Ham metinler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37;p4"/>
          <p:cNvSpPr/>
          <p:nvPr/>
        </p:nvSpPr>
        <p:spPr>
          <a:xfrm>
            <a:off x="990720" y="3753000"/>
            <a:ext cx="247608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Excel, TXT veya PDF içeriği analiz için önce okunabilir metne dönüştürülmelidir.</a:t>
            </a:r>
            <a:endParaRPr lang="tr-T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38;p4"/>
          <p:cNvSpPr/>
          <p:nvPr/>
        </p:nvSpPr>
        <p:spPr>
          <a:xfrm>
            <a:off x="4762440" y="2571840"/>
            <a:ext cx="6663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BBF24"/>
                </a:solidFill>
                <a:effectLst/>
                <a:uFillTx/>
                <a:latin typeface="Play"/>
                <a:ea typeface="Play"/>
              </a:rPr>
              <a:t>2</a:t>
            </a:r>
            <a:endParaRPr lang="tr-T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39;p4"/>
          <p:cNvSpPr/>
          <p:nvPr/>
        </p:nvSpPr>
        <p:spPr>
          <a:xfrm>
            <a:off x="4762440" y="3286080"/>
            <a:ext cx="2285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Gizlilik riski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40;p4"/>
          <p:cNvSpPr/>
          <p:nvPr/>
        </p:nvSpPr>
        <p:spPr>
          <a:xfrm>
            <a:off x="4762440" y="3753000"/>
            <a:ext cx="247608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Klinik görüşme metinleri kişisel veri örüntüleri taşıyabilir; işlem öncesi hafifletme gerekir.</a:t>
            </a:r>
            <a:endParaRPr lang="tr-T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41;p4"/>
          <p:cNvSpPr/>
          <p:nvPr/>
        </p:nvSpPr>
        <p:spPr>
          <a:xfrm>
            <a:off x="8534520" y="2571840"/>
            <a:ext cx="6663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5EEAD4"/>
                </a:solidFill>
                <a:effectLst/>
                <a:uFillTx/>
                <a:latin typeface="Play"/>
                <a:ea typeface="Play"/>
              </a:rPr>
              <a:t>3</a:t>
            </a:r>
            <a:endParaRPr lang="tr-T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42;p4"/>
          <p:cNvSpPr/>
          <p:nvPr/>
        </p:nvSpPr>
        <p:spPr>
          <a:xfrm>
            <a:off x="8534520" y="3286080"/>
            <a:ext cx="2285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Model kotası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43;p4"/>
          <p:cNvSpPr/>
          <p:nvPr/>
        </p:nvSpPr>
        <p:spPr>
          <a:xfrm>
            <a:off x="8534520" y="3753000"/>
            <a:ext cx="247608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Ücretsiz API modellerinde kota ve erişim hatası mümkündür; sistem tek modele bağımlı kalmamalıdır.</a:t>
            </a:r>
            <a:endParaRPr lang="tr-T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44;p4"/>
          <p:cNvSpPr/>
          <p:nvPr/>
        </p:nvSpPr>
        <p:spPr>
          <a:xfrm>
            <a:off x="857160" y="5343480"/>
            <a:ext cx="85320" cy="85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0240" bIns="30240" anchor="ctr">
            <a:noAutofit/>
          </a:bodyPr>
          <a:p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45;p4"/>
          <p:cNvSpPr/>
          <p:nvPr/>
        </p:nvSpPr>
        <p:spPr>
          <a:xfrm>
            <a:off x="1085760" y="5257800"/>
            <a:ext cx="94867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Bu yüzden proje otomasyon, gizlilik, model havuzu ve literatür bağlamını tek akışta birleştirir.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46;p4"/>
          <p:cNvSpPr/>
          <p:nvPr/>
        </p:nvSpPr>
        <p:spPr>
          <a:xfrm>
            <a:off x="704880" y="6419880"/>
            <a:ext cx="6857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Kaynak: Knowledge-Base/final-knowledge-base.md ve mevcut kod yapısı</a:t>
            </a:r>
            <a:endParaRPr lang="tr-TR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2;p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53;p5"/>
          <p:cNvSpPr/>
          <p:nvPr/>
        </p:nvSpPr>
        <p:spPr>
          <a:xfrm>
            <a:off x="0" y="0"/>
            <a:ext cx="12191760" cy="95040"/>
          </a:xfrm>
          <a:prstGeom prst="rect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7520" bIns="4752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54;p5"/>
          <p:cNvSpPr/>
          <p:nvPr/>
        </p:nvSpPr>
        <p:spPr>
          <a:xfrm>
            <a:off x="704880" y="34308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MED-AGENTLAB FINAL SUNUM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55;p5"/>
          <p:cNvSpPr/>
          <p:nvPr/>
        </p:nvSpPr>
        <p:spPr>
          <a:xfrm>
            <a:off x="10858680" y="343080"/>
            <a:ext cx="6091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56;p5"/>
          <p:cNvSpPr/>
          <p:nvPr/>
        </p:nvSpPr>
        <p:spPr>
          <a:xfrm>
            <a:off x="704880" y="819000"/>
            <a:ext cx="971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Amaç: Güvenli ve izlenebilir nitel analiz prototipi</a:t>
            </a:r>
            <a:endParaRPr lang="tr-T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57;p5"/>
          <p:cNvSpPr/>
          <p:nvPr/>
        </p:nvSpPr>
        <p:spPr>
          <a:xfrm>
            <a:off x="723960" y="1428840"/>
            <a:ext cx="9334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Med-AgentLab klinik görüşme metnini uçtan uca işleyip tematik ve literatür destekli çıktı üretir.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58;p5"/>
          <p:cNvSpPr/>
          <p:nvPr/>
        </p:nvSpPr>
        <p:spPr>
          <a:xfrm>
            <a:off x="895320" y="2228760"/>
            <a:ext cx="9810360" cy="18720"/>
          </a:xfrm>
          <a:prstGeom prst="rect">
            <a:avLst/>
          </a:prstGeom>
          <a:solidFill>
            <a:srgbClr val="6170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59;p5"/>
          <p:cNvSpPr/>
          <p:nvPr/>
        </p:nvSpPr>
        <p:spPr>
          <a:xfrm>
            <a:off x="1047600" y="2571840"/>
            <a:ext cx="1380600" cy="323640"/>
          </a:xfrm>
          <a:prstGeom prst="roundRect">
            <a:avLst>
              <a:gd name="adj" fmla="val 50000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60;p5"/>
          <p:cNvSpPr/>
          <p:nvPr/>
        </p:nvSpPr>
        <p:spPr>
          <a:xfrm>
            <a:off x="1047600" y="2581200"/>
            <a:ext cx="13806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Girdi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61;p5"/>
          <p:cNvSpPr/>
          <p:nvPr/>
        </p:nvSpPr>
        <p:spPr>
          <a:xfrm>
            <a:off x="3143160" y="2571840"/>
            <a:ext cx="1380600" cy="323640"/>
          </a:xfrm>
          <a:prstGeom prst="roundRect">
            <a:avLst>
              <a:gd name="adj" fmla="val 50000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62;p5"/>
          <p:cNvSpPr/>
          <p:nvPr/>
        </p:nvSpPr>
        <p:spPr>
          <a:xfrm>
            <a:off x="3143160" y="2581200"/>
            <a:ext cx="13806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34D399"/>
                </a:solidFill>
                <a:effectLst/>
                <a:uFillTx/>
                <a:latin typeface="Arial"/>
                <a:ea typeface="Arial"/>
              </a:rPr>
              <a:t>Gizlilik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63;p5"/>
          <p:cNvSpPr/>
          <p:nvPr/>
        </p:nvSpPr>
        <p:spPr>
          <a:xfrm>
            <a:off x="5238720" y="2571840"/>
            <a:ext cx="1380600" cy="323640"/>
          </a:xfrm>
          <a:prstGeom prst="roundRect">
            <a:avLst>
              <a:gd name="adj" fmla="val 50000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64;p5"/>
          <p:cNvSpPr/>
          <p:nvPr/>
        </p:nvSpPr>
        <p:spPr>
          <a:xfrm>
            <a:off x="5238720" y="2581200"/>
            <a:ext cx="13806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0A5FA"/>
                </a:solidFill>
                <a:effectLst/>
                <a:uFillTx/>
                <a:latin typeface="Arial"/>
                <a:ea typeface="Arial"/>
              </a:rPr>
              <a:t>Tema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65;p5"/>
          <p:cNvSpPr/>
          <p:nvPr/>
        </p:nvSpPr>
        <p:spPr>
          <a:xfrm>
            <a:off x="7334280" y="2571840"/>
            <a:ext cx="1380600" cy="323640"/>
          </a:xfrm>
          <a:prstGeom prst="roundRect">
            <a:avLst>
              <a:gd name="adj" fmla="val 50000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66;p5"/>
          <p:cNvSpPr/>
          <p:nvPr/>
        </p:nvSpPr>
        <p:spPr>
          <a:xfrm>
            <a:off x="7334280" y="2581200"/>
            <a:ext cx="13806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Doğrulama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67;p5"/>
          <p:cNvSpPr/>
          <p:nvPr/>
        </p:nvSpPr>
        <p:spPr>
          <a:xfrm>
            <a:off x="9429840" y="2571840"/>
            <a:ext cx="1380600" cy="323640"/>
          </a:xfrm>
          <a:prstGeom prst="roundRect">
            <a:avLst>
              <a:gd name="adj" fmla="val 50000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68;p5"/>
          <p:cNvSpPr/>
          <p:nvPr/>
        </p:nvSpPr>
        <p:spPr>
          <a:xfrm>
            <a:off x="9429840" y="2581200"/>
            <a:ext cx="13806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8102E"/>
                </a:solidFill>
                <a:effectLst/>
                <a:uFillTx/>
                <a:latin typeface="Arial"/>
                <a:ea typeface="Arial"/>
              </a:rPr>
              <a:t>Rapor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69;p5"/>
          <p:cNvSpPr/>
          <p:nvPr/>
        </p:nvSpPr>
        <p:spPr>
          <a:xfrm>
            <a:off x="876240" y="3714840"/>
            <a:ext cx="21902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Ana tez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70;p5"/>
          <p:cNvSpPr/>
          <p:nvPr/>
        </p:nvSpPr>
        <p:spPr>
          <a:xfrm>
            <a:off x="3067200" y="3581280"/>
            <a:ext cx="7733880" cy="1123560"/>
          </a:xfrm>
          <a:prstGeom prst="roundRect">
            <a:avLst>
              <a:gd name="adj" fmla="val 6780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71;p5"/>
          <p:cNvSpPr/>
          <p:nvPr/>
        </p:nvSpPr>
        <p:spPr>
          <a:xfrm>
            <a:off x="3371760" y="3828960"/>
            <a:ext cx="712440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Tek bir ajan yerine görevleri ayrıştıran, kota dolunca başka modele geçebilen ve Ollama'yı hafif yerel görevde kullanan bir yapı daha sürdürülebilir bir prototip oluşturur.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72;p5"/>
          <p:cNvSpPr/>
          <p:nvPr/>
        </p:nvSpPr>
        <p:spPr>
          <a:xfrm>
            <a:off x="895320" y="5372280"/>
            <a:ext cx="85320" cy="8532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0240" bIns="30240" anchor="ctr">
            <a:noAutofit/>
          </a:bodyPr>
          <a:p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73;p5"/>
          <p:cNvSpPr/>
          <p:nvPr/>
        </p:nvSpPr>
        <p:spPr>
          <a:xfrm>
            <a:off x="1123920" y="5286240"/>
            <a:ext cx="83437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Çıktılar: Excel analiz sonucu, Markdown rapor ve Word rapor.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Google Shape;74;p5"/>
          <p:cNvSpPr/>
          <p:nvPr/>
        </p:nvSpPr>
        <p:spPr>
          <a:xfrm>
            <a:off x="704880" y="6419880"/>
            <a:ext cx="6857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Kaynak: Knowledge-Base/final-knowledge-base.md ve mevcut kod yapısı</a:t>
            </a:r>
            <a:endParaRPr lang="tr-TR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80;p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1;p6"/>
          <p:cNvSpPr/>
          <p:nvPr/>
        </p:nvSpPr>
        <p:spPr>
          <a:xfrm>
            <a:off x="0" y="0"/>
            <a:ext cx="12191760" cy="95040"/>
          </a:xfrm>
          <a:prstGeom prst="rect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7520" bIns="4752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2;p6"/>
          <p:cNvSpPr/>
          <p:nvPr/>
        </p:nvSpPr>
        <p:spPr>
          <a:xfrm>
            <a:off x="704880" y="34308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MED-AGENTLAB FINAL SUNUM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3;p6"/>
          <p:cNvSpPr/>
          <p:nvPr/>
        </p:nvSpPr>
        <p:spPr>
          <a:xfrm>
            <a:off x="10858680" y="343080"/>
            <a:ext cx="6091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4;p6"/>
          <p:cNvSpPr/>
          <p:nvPr/>
        </p:nvSpPr>
        <p:spPr>
          <a:xfrm>
            <a:off x="704880" y="819000"/>
            <a:ext cx="971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Final mimari: tek backend, tek frontend, ayrıştırılmış ajan akışı</a:t>
            </a:r>
            <a:endParaRPr lang="tr-T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85;p6"/>
          <p:cNvSpPr/>
          <p:nvPr/>
        </p:nvSpPr>
        <p:spPr>
          <a:xfrm>
            <a:off x="723960" y="1428840"/>
            <a:ext cx="9334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Aktif servis hedefi app.py; arayüz tek dosyalık frontend/index.html üzerinden çalışır.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86;p6"/>
          <p:cNvSpPr/>
          <p:nvPr/>
        </p:nvSpPr>
        <p:spPr>
          <a:xfrm>
            <a:off x="762120" y="2247840"/>
            <a:ext cx="2381040" cy="914040"/>
          </a:xfrm>
          <a:prstGeom prst="roundRect">
            <a:avLst>
              <a:gd name="adj" fmla="val 8333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87;p6"/>
          <p:cNvSpPr/>
          <p:nvPr/>
        </p:nvSpPr>
        <p:spPr>
          <a:xfrm>
            <a:off x="971640" y="2362320"/>
            <a:ext cx="1962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frontend/index.html</a:t>
            </a:r>
            <a:endParaRPr lang="tr-T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88;p6"/>
          <p:cNvSpPr/>
          <p:nvPr/>
        </p:nvSpPr>
        <p:spPr>
          <a:xfrm>
            <a:off x="990720" y="2781360"/>
            <a:ext cx="19238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Yükleme, durum, sonuç ve indirme ekranları</a:t>
            </a:r>
            <a:endParaRPr lang="tr-T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89;p6"/>
          <p:cNvSpPr/>
          <p:nvPr/>
        </p:nvSpPr>
        <p:spPr>
          <a:xfrm>
            <a:off x="3352680" y="2685960"/>
            <a:ext cx="1142640" cy="37800"/>
          </a:xfrm>
          <a:prstGeom prst="rect">
            <a:avLst/>
          </a:prstGeom>
          <a:solidFill>
            <a:srgbClr val="5EE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0;p6"/>
          <p:cNvSpPr/>
          <p:nvPr/>
        </p:nvSpPr>
        <p:spPr>
          <a:xfrm>
            <a:off x="4667400" y="2076480"/>
            <a:ext cx="2857320" cy="1257120"/>
          </a:xfrm>
          <a:prstGeom prst="roundRect">
            <a:avLst>
              <a:gd name="adj" fmla="val 6061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1;p6"/>
          <p:cNvSpPr/>
          <p:nvPr/>
        </p:nvSpPr>
        <p:spPr>
          <a:xfrm>
            <a:off x="4943520" y="2181240"/>
            <a:ext cx="2285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app.py FastAPI Backend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92;p6"/>
          <p:cNvSpPr/>
          <p:nvPr/>
        </p:nvSpPr>
        <p:spPr>
          <a:xfrm>
            <a:off x="4971960" y="2724120"/>
            <a:ext cx="2247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API endpoint'leri, background job, SQLite, pipeline ve export işlemleri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93;p6"/>
          <p:cNvSpPr/>
          <p:nvPr/>
        </p:nvSpPr>
        <p:spPr>
          <a:xfrm>
            <a:off x="7715160" y="2685960"/>
            <a:ext cx="1142640" cy="37800"/>
          </a:xfrm>
          <a:prstGeom prst="rect">
            <a:avLst/>
          </a:prstGeom>
          <a:solidFill>
            <a:srgbClr val="5EE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94;p6"/>
          <p:cNvSpPr/>
          <p:nvPr/>
        </p:nvSpPr>
        <p:spPr>
          <a:xfrm>
            <a:off x="9029880" y="2247840"/>
            <a:ext cx="2381040" cy="914040"/>
          </a:xfrm>
          <a:prstGeom prst="roundRect">
            <a:avLst>
              <a:gd name="adj" fmla="val 8333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95;p6"/>
          <p:cNvSpPr/>
          <p:nvPr/>
        </p:nvSpPr>
        <p:spPr>
          <a:xfrm>
            <a:off x="9258480" y="2362320"/>
            <a:ext cx="18856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Model ve servisler</a:t>
            </a:r>
            <a:endParaRPr lang="tr-T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96;p6"/>
          <p:cNvSpPr/>
          <p:nvPr/>
        </p:nvSpPr>
        <p:spPr>
          <a:xfrm>
            <a:off x="9296280" y="2781360"/>
            <a:ext cx="18475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Ollama, Groq/Gemini havuzları, PubMed</a:t>
            </a:r>
            <a:endParaRPr lang="tr-T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97;p6"/>
          <p:cNvSpPr/>
          <p:nvPr/>
        </p:nvSpPr>
        <p:spPr>
          <a:xfrm>
            <a:off x="1428840" y="4095720"/>
            <a:ext cx="1238040" cy="323640"/>
          </a:xfrm>
          <a:prstGeom prst="roundRect">
            <a:avLst>
              <a:gd name="adj" fmla="val 50000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98;p6"/>
          <p:cNvSpPr/>
          <p:nvPr/>
        </p:nvSpPr>
        <p:spPr>
          <a:xfrm>
            <a:off x="1428840" y="4105440"/>
            <a:ext cx="1238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uploads/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99;p6"/>
          <p:cNvSpPr/>
          <p:nvPr/>
        </p:nvSpPr>
        <p:spPr>
          <a:xfrm>
            <a:off x="3333600" y="4095720"/>
            <a:ext cx="1809360" cy="323640"/>
          </a:xfrm>
          <a:prstGeom prst="roundRect">
            <a:avLst>
              <a:gd name="adj" fmla="val 50000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0;p6"/>
          <p:cNvSpPr/>
          <p:nvPr/>
        </p:nvSpPr>
        <p:spPr>
          <a:xfrm>
            <a:off x="3333600" y="4105440"/>
            <a:ext cx="1809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med_agentlab.db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1;p6"/>
          <p:cNvSpPr/>
          <p:nvPr/>
        </p:nvSpPr>
        <p:spPr>
          <a:xfrm>
            <a:off x="5810400" y="4095720"/>
            <a:ext cx="1238040" cy="323640"/>
          </a:xfrm>
          <a:prstGeom prst="roundRect">
            <a:avLst>
              <a:gd name="adj" fmla="val 50000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2;p6"/>
          <p:cNvSpPr/>
          <p:nvPr/>
        </p:nvSpPr>
        <p:spPr>
          <a:xfrm>
            <a:off x="5810400" y="4105440"/>
            <a:ext cx="1238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34D399"/>
                </a:solidFill>
                <a:effectLst/>
                <a:uFillTx/>
                <a:latin typeface="Arial"/>
                <a:ea typeface="Arial"/>
              </a:rPr>
              <a:t>outputs/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3;p6"/>
          <p:cNvSpPr/>
          <p:nvPr/>
        </p:nvSpPr>
        <p:spPr>
          <a:xfrm>
            <a:off x="7715160" y="4095720"/>
            <a:ext cx="856800" cy="323640"/>
          </a:xfrm>
          <a:prstGeom prst="roundRect">
            <a:avLst>
              <a:gd name="adj" fmla="val 50000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4;p6"/>
          <p:cNvSpPr/>
          <p:nvPr/>
        </p:nvSpPr>
        <p:spPr>
          <a:xfrm>
            <a:off x="7715160" y="4105440"/>
            <a:ext cx="8568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8102E"/>
                </a:solidFill>
                <a:effectLst/>
                <a:uFillTx/>
                <a:latin typeface="Arial"/>
                <a:ea typeface="Arial"/>
              </a:rPr>
              <a:t>.env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5;p6"/>
          <p:cNvSpPr/>
          <p:nvPr/>
        </p:nvSpPr>
        <p:spPr>
          <a:xfrm>
            <a:off x="1619280" y="5143680"/>
            <a:ext cx="84769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Runtime dosyaları Git'e dahil edilmez: yüklemeler, çıktılar, DB, log ve gerçek anahtarlar yerel kalır.</a:t>
            </a:r>
            <a:endParaRPr lang="tr-T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06;p6"/>
          <p:cNvSpPr/>
          <p:nvPr/>
        </p:nvSpPr>
        <p:spPr>
          <a:xfrm>
            <a:off x="704880" y="6419880"/>
            <a:ext cx="6857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Kaynak: Knowledge-Base/final-knowledge-base.md ve mevcut kod yapısı</a:t>
            </a:r>
            <a:endParaRPr lang="tr-TR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12;p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13;p7"/>
          <p:cNvSpPr/>
          <p:nvPr/>
        </p:nvSpPr>
        <p:spPr>
          <a:xfrm>
            <a:off x="0" y="0"/>
            <a:ext cx="12191760" cy="95040"/>
          </a:xfrm>
          <a:prstGeom prst="rect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7520" bIns="4752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14;p7"/>
          <p:cNvSpPr/>
          <p:nvPr/>
        </p:nvSpPr>
        <p:spPr>
          <a:xfrm>
            <a:off x="704880" y="34308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MED-AGENTLAB FINAL SUNUM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15;p7"/>
          <p:cNvSpPr/>
          <p:nvPr/>
        </p:nvSpPr>
        <p:spPr>
          <a:xfrm>
            <a:off x="10858680" y="343080"/>
            <a:ext cx="6091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16;p7"/>
          <p:cNvSpPr/>
          <p:nvPr/>
        </p:nvSpPr>
        <p:spPr>
          <a:xfrm>
            <a:off x="704880" y="819000"/>
            <a:ext cx="971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Pipeline: ham veriden rapora kontrollü geçiş</a:t>
            </a:r>
            <a:endParaRPr lang="tr-T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17;p7"/>
          <p:cNvSpPr/>
          <p:nvPr/>
        </p:nvSpPr>
        <p:spPr>
          <a:xfrm>
            <a:off x="723960" y="1428840"/>
            <a:ext cx="9334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run_pipeline_job analizi background task olarak yürütür; durum ve ilerleme frontend tarafından izlenir.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18;p7"/>
          <p:cNvSpPr/>
          <p:nvPr/>
        </p:nvSpPr>
        <p:spPr>
          <a:xfrm>
            <a:off x="685800" y="2629080"/>
            <a:ext cx="1485720" cy="1695240"/>
          </a:xfrm>
          <a:prstGeom prst="roundRect">
            <a:avLst>
              <a:gd name="adj" fmla="val 5128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19;p7"/>
          <p:cNvSpPr/>
          <p:nvPr/>
        </p:nvSpPr>
        <p:spPr>
          <a:xfrm>
            <a:off x="876240" y="2819520"/>
            <a:ext cx="3805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tr-T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20;p7"/>
          <p:cNvSpPr/>
          <p:nvPr/>
        </p:nvSpPr>
        <p:spPr>
          <a:xfrm>
            <a:off x="876240" y="3314880"/>
            <a:ext cx="1104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Dosya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21;p7"/>
          <p:cNvSpPr/>
          <p:nvPr/>
        </p:nvSpPr>
        <p:spPr>
          <a:xfrm>
            <a:off x="876240" y="3733920"/>
            <a:ext cx="110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Excel/TXT/PDF alınır</a:t>
            </a:r>
            <a:endParaRPr lang="tr-T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22;p7"/>
          <p:cNvSpPr/>
          <p:nvPr/>
        </p:nvSpPr>
        <p:spPr>
          <a:xfrm>
            <a:off x="2228760" y="3448080"/>
            <a:ext cx="380520" cy="37800"/>
          </a:xfrm>
          <a:prstGeom prst="rect">
            <a:avLst/>
          </a:prstGeom>
          <a:solidFill>
            <a:srgbClr val="6170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23;p7"/>
          <p:cNvSpPr/>
          <p:nvPr/>
        </p:nvSpPr>
        <p:spPr>
          <a:xfrm>
            <a:off x="2543040" y="2629080"/>
            <a:ext cx="1485720" cy="1695240"/>
          </a:xfrm>
          <a:prstGeom prst="roundRect">
            <a:avLst>
              <a:gd name="adj" fmla="val 5128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24;p7"/>
          <p:cNvSpPr/>
          <p:nvPr/>
        </p:nvSpPr>
        <p:spPr>
          <a:xfrm>
            <a:off x="2733840" y="2819520"/>
            <a:ext cx="3805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tr-T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25;p7"/>
          <p:cNvSpPr/>
          <p:nvPr/>
        </p:nvSpPr>
        <p:spPr>
          <a:xfrm>
            <a:off x="2733840" y="3314880"/>
            <a:ext cx="1104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Metin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26;p7"/>
          <p:cNvSpPr/>
          <p:nvPr/>
        </p:nvSpPr>
        <p:spPr>
          <a:xfrm>
            <a:off x="2733840" y="3733920"/>
            <a:ext cx="110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Okunabilir içeriğe çevrilir</a:t>
            </a:r>
            <a:endParaRPr lang="tr-T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27;p7"/>
          <p:cNvSpPr/>
          <p:nvPr/>
        </p:nvSpPr>
        <p:spPr>
          <a:xfrm>
            <a:off x="4086360" y="3448080"/>
            <a:ext cx="380520" cy="37800"/>
          </a:xfrm>
          <a:prstGeom prst="rect">
            <a:avLst/>
          </a:prstGeom>
          <a:solidFill>
            <a:srgbClr val="6170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28;p7"/>
          <p:cNvSpPr/>
          <p:nvPr/>
        </p:nvSpPr>
        <p:spPr>
          <a:xfrm>
            <a:off x="4400640" y="2629080"/>
            <a:ext cx="1485720" cy="1695240"/>
          </a:xfrm>
          <a:prstGeom prst="roundRect">
            <a:avLst>
              <a:gd name="adj" fmla="val 5128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29;p7"/>
          <p:cNvSpPr/>
          <p:nvPr/>
        </p:nvSpPr>
        <p:spPr>
          <a:xfrm>
            <a:off x="4591080" y="2819520"/>
            <a:ext cx="3805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34D399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tr-T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30;p7"/>
          <p:cNvSpPr/>
          <p:nvPr/>
        </p:nvSpPr>
        <p:spPr>
          <a:xfrm>
            <a:off x="4591080" y="3314880"/>
            <a:ext cx="1104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Gizlilik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31;p7"/>
          <p:cNvSpPr/>
          <p:nvPr/>
        </p:nvSpPr>
        <p:spPr>
          <a:xfrm>
            <a:off x="4591080" y="3733920"/>
            <a:ext cx="110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Ollama + regex fallback</a:t>
            </a:r>
            <a:endParaRPr lang="tr-T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32;p7"/>
          <p:cNvSpPr/>
          <p:nvPr/>
        </p:nvSpPr>
        <p:spPr>
          <a:xfrm>
            <a:off x="5943600" y="3448080"/>
            <a:ext cx="380520" cy="37800"/>
          </a:xfrm>
          <a:prstGeom prst="rect">
            <a:avLst/>
          </a:prstGeom>
          <a:solidFill>
            <a:srgbClr val="6170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33;p7"/>
          <p:cNvSpPr/>
          <p:nvPr/>
        </p:nvSpPr>
        <p:spPr>
          <a:xfrm>
            <a:off x="6257880" y="2629080"/>
            <a:ext cx="1485720" cy="1695240"/>
          </a:xfrm>
          <a:prstGeom prst="roundRect">
            <a:avLst>
              <a:gd name="adj" fmla="val 5128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34;p7"/>
          <p:cNvSpPr/>
          <p:nvPr/>
        </p:nvSpPr>
        <p:spPr>
          <a:xfrm>
            <a:off x="6448320" y="2819520"/>
            <a:ext cx="3805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tr-T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35;p7"/>
          <p:cNvSpPr/>
          <p:nvPr/>
        </p:nvSpPr>
        <p:spPr>
          <a:xfrm>
            <a:off x="6448320" y="3314880"/>
            <a:ext cx="1104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Tema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36;p7"/>
          <p:cNvSpPr/>
          <p:nvPr/>
        </p:nvSpPr>
        <p:spPr>
          <a:xfrm>
            <a:off x="6448320" y="3733920"/>
            <a:ext cx="110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Model havuzu ile çıkarım</a:t>
            </a:r>
            <a:endParaRPr lang="tr-T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37;p7"/>
          <p:cNvSpPr/>
          <p:nvPr/>
        </p:nvSpPr>
        <p:spPr>
          <a:xfrm>
            <a:off x="7800840" y="3448080"/>
            <a:ext cx="380520" cy="37800"/>
          </a:xfrm>
          <a:prstGeom prst="rect">
            <a:avLst/>
          </a:prstGeom>
          <a:solidFill>
            <a:srgbClr val="6170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38;p7"/>
          <p:cNvSpPr/>
          <p:nvPr/>
        </p:nvSpPr>
        <p:spPr>
          <a:xfrm>
            <a:off x="8115480" y="2629080"/>
            <a:ext cx="1485720" cy="1695240"/>
          </a:xfrm>
          <a:prstGeom prst="roundRect">
            <a:avLst>
              <a:gd name="adj" fmla="val 5128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39;p7"/>
          <p:cNvSpPr/>
          <p:nvPr/>
        </p:nvSpPr>
        <p:spPr>
          <a:xfrm>
            <a:off x="8305920" y="2819520"/>
            <a:ext cx="3805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tr-T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40;p7"/>
          <p:cNvSpPr/>
          <p:nvPr/>
        </p:nvSpPr>
        <p:spPr>
          <a:xfrm>
            <a:off x="8305920" y="3314880"/>
            <a:ext cx="1104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PubMed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41;p7"/>
          <p:cNvSpPr/>
          <p:nvPr/>
        </p:nvSpPr>
        <p:spPr>
          <a:xfrm>
            <a:off x="8305920" y="3733920"/>
            <a:ext cx="110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Literatür bağlamı</a:t>
            </a:r>
            <a:endParaRPr lang="tr-T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42;p7"/>
          <p:cNvSpPr/>
          <p:nvPr/>
        </p:nvSpPr>
        <p:spPr>
          <a:xfrm>
            <a:off x="9658440" y="3448080"/>
            <a:ext cx="380520" cy="37800"/>
          </a:xfrm>
          <a:prstGeom prst="rect">
            <a:avLst/>
          </a:prstGeom>
          <a:solidFill>
            <a:srgbClr val="6170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43;p7"/>
          <p:cNvSpPr/>
          <p:nvPr/>
        </p:nvSpPr>
        <p:spPr>
          <a:xfrm>
            <a:off x="9972720" y="2629080"/>
            <a:ext cx="1485720" cy="1695240"/>
          </a:xfrm>
          <a:prstGeom prst="roundRect">
            <a:avLst>
              <a:gd name="adj" fmla="val 5128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44;p7"/>
          <p:cNvSpPr/>
          <p:nvPr/>
        </p:nvSpPr>
        <p:spPr>
          <a:xfrm>
            <a:off x="10163160" y="2819520"/>
            <a:ext cx="3805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tr-T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45;p7"/>
          <p:cNvSpPr/>
          <p:nvPr/>
        </p:nvSpPr>
        <p:spPr>
          <a:xfrm>
            <a:off x="10163160" y="3314880"/>
            <a:ext cx="1104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Rapor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46;p7"/>
          <p:cNvSpPr/>
          <p:nvPr/>
        </p:nvSpPr>
        <p:spPr>
          <a:xfrm>
            <a:off x="10163160" y="3733920"/>
            <a:ext cx="110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MD/XLSX/DOCX çıktı</a:t>
            </a:r>
            <a:endParaRPr lang="tr-T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47;p7"/>
          <p:cNvSpPr/>
          <p:nvPr/>
        </p:nvSpPr>
        <p:spPr>
          <a:xfrm>
            <a:off x="1238400" y="5067360"/>
            <a:ext cx="93340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Uzun TXT/PDF içerikleri sliding window ile parçalara ayrılır; Excel akışında text_data kolonu önceliklidir.</a:t>
            </a:r>
            <a:endParaRPr lang="tr-T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48;p7"/>
          <p:cNvSpPr/>
          <p:nvPr/>
        </p:nvSpPr>
        <p:spPr>
          <a:xfrm>
            <a:off x="704880" y="6419880"/>
            <a:ext cx="6857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Kaynak: Knowledge-Base/final-knowledge-base.md ve mevcut kod yapısı</a:t>
            </a:r>
            <a:endParaRPr lang="tr-TR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54;p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55;p8"/>
          <p:cNvSpPr/>
          <p:nvPr/>
        </p:nvSpPr>
        <p:spPr>
          <a:xfrm>
            <a:off x="0" y="0"/>
            <a:ext cx="12191760" cy="95040"/>
          </a:xfrm>
          <a:prstGeom prst="rect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7520" bIns="4752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56;p8"/>
          <p:cNvSpPr/>
          <p:nvPr/>
        </p:nvSpPr>
        <p:spPr>
          <a:xfrm>
            <a:off x="704880" y="34308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MED-AGENTLAB FINAL SUNUM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57;p8"/>
          <p:cNvSpPr/>
          <p:nvPr/>
        </p:nvSpPr>
        <p:spPr>
          <a:xfrm>
            <a:off x="10858680" y="343080"/>
            <a:ext cx="6091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58;p8"/>
          <p:cNvSpPr/>
          <p:nvPr/>
        </p:nvSpPr>
        <p:spPr>
          <a:xfrm>
            <a:off x="704880" y="819000"/>
            <a:ext cx="971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Ajanlar görev bazlı ayrıldı</a:t>
            </a:r>
            <a:endParaRPr lang="tr-T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59;p8"/>
          <p:cNvSpPr/>
          <p:nvPr/>
        </p:nvSpPr>
        <p:spPr>
          <a:xfrm>
            <a:off x="723960" y="1428840"/>
            <a:ext cx="9334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Amaç: aynı işi yapan dört ajan değil, farklı riskleri taşıyan dört ayrı sorumluluk.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60;p8"/>
          <p:cNvSpPr/>
          <p:nvPr/>
        </p:nvSpPr>
        <p:spPr>
          <a:xfrm>
            <a:off x="895320" y="2209680"/>
            <a:ext cx="9619920" cy="685440"/>
          </a:xfrm>
          <a:prstGeom prst="roundRect">
            <a:avLst>
              <a:gd name="adj" fmla="val 11111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61;p8"/>
          <p:cNvSpPr/>
          <p:nvPr/>
        </p:nvSpPr>
        <p:spPr>
          <a:xfrm>
            <a:off x="1123920" y="2295360"/>
            <a:ext cx="4950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34D399"/>
                </a:solidFill>
                <a:effectLst/>
                <a:uFillTx/>
                <a:latin typeface="Play"/>
                <a:ea typeface="Play"/>
              </a:rPr>
              <a:t>A</a:t>
            </a:r>
            <a:endParaRPr lang="tr-T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62;p8"/>
          <p:cNvSpPr/>
          <p:nvPr/>
        </p:nvSpPr>
        <p:spPr>
          <a:xfrm>
            <a:off x="1790640" y="2362320"/>
            <a:ext cx="2476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Privacy Scrubber</a:t>
            </a:r>
            <a:endParaRPr lang="tr-T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63;p8"/>
          <p:cNvSpPr/>
          <p:nvPr/>
        </p:nvSpPr>
        <p:spPr>
          <a:xfrm>
            <a:off x="4476600" y="2352600"/>
            <a:ext cx="5524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Ollama ile hafif yerel gizlilik ön işlemesi; hata durumunda PatternGuard regex fallback.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64;p8"/>
          <p:cNvSpPr/>
          <p:nvPr/>
        </p:nvSpPr>
        <p:spPr>
          <a:xfrm>
            <a:off x="895320" y="3143160"/>
            <a:ext cx="9619920" cy="685440"/>
          </a:xfrm>
          <a:prstGeom prst="roundRect">
            <a:avLst>
              <a:gd name="adj" fmla="val 11111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65;p8"/>
          <p:cNvSpPr/>
          <p:nvPr/>
        </p:nvSpPr>
        <p:spPr>
          <a:xfrm>
            <a:off x="1123920" y="3228840"/>
            <a:ext cx="4950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5EEAD4"/>
                </a:solidFill>
                <a:effectLst/>
                <a:uFillTx/>
                <a:latin typeface="Play"/>
                <a:ea typeface="Play"/>
              </a:rPr>
              <a:t>B</a:t>
            </a:r>
            <a:endParaRPr lang="tr-T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66;p8"/>
          <p:cNvSpPr/>
          <p:nvPr/>
        </p:nvSpPr>
        <p:spPr>
          <a:xfrm>
            <a:off x="1790640" y="3295800"/>
            <a:ext cx="2476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Thematic Mapper</a:t>
            </a:r>
            <a:endParaRPr lang="tr-T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67;p8"/>
          <p:cNvSpPr/>
          <p:nvPr/>
        </p:nvSpPr>
        <p:spPr>
          <a:xfrm>
            <a:off x="4476600" y="3286080"/>
            <a:ext cx="5524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Gizlilikten geçmiş metinden ana tema ve alt temaları model havuzu ile çıkarır.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68;p8"/>
          <p:cNvSpPr/>
          <p:nvPr/>
        </p:nvSpPr>
        <p:spPr>
          <a:xfrm>
            <a:off x="895320" y="4076640"/>
            <a:ext cx="9619920" cy="685440"/>
          </a:xfrm>
          <a:prstGeom prst="roundRect">
            <a:avLst>
              <a:gd name="adj" fmla="val 11111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69;p8"/>
          <p:cNvSpPr/>
          <p:nvPr/>
        </p:nvSpPr>
        <p:spPr>
          <a:xfrm>
            <a:off x="1123920" y="4162320"/>
            <a:ext cx="4950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5EEAD4"/>
                </a:solidFill>
                <a:effectLst/>
                <a:uFillTx/>
                <a:latin typeface="Play"/>
                <a:ea typeface="Play"/>
              </a:rPr>
              <a:t>C</a:t>
            </a:r>
            <a:endParaRPr lang="tr-T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70;p8"/>
          <p:cNvSpPr/>
          <p:nvPr/>
        </p:nvSpPr>
        <p:spPr>
          <a:xfrm>
            <a:off x="1790640" y="4229280"/>
            <a:ext cx="2476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PubMed Validator</a:t>
            </a:r>
            <a:endParaRPr lang="tr-T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71;p8"/>
          <p:cNvSpPr/>
          <p:nvPr/>
        </p:nvSpPr>
        <p:spPr>
          <a:xfrm>
            <a:off x="4476600" y="4219560"/>
            <a:ext cx="5524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Temaları PubMed başlıklarıyla literatür bağlamında değerlendirir.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72;p8"/>
          <p:cNvSpPr/>
          <p:nvPr/>
        </p:nvSpPr>
        <p:spPr>
          <a:xfrm>
            <a:off x="895320" y="5010120"/>
            <a:ext cx="9619920" cy="685440"/>
          </a:xfrm>
          <a:prstGeom prst="roundRect">
            <a:avLst>
              <a:gd name="adj" fmla="val 11111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73;p8"/>
          <p:cNvSpPr/>
          <p:nvPr/>
        </p:nvSpPr>
        <p:spPr>
          <a:xfrm>
            <a:off x="1123920" y="5095800"/>
            <a:ext cx="4950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5EEAD4"/>
                </a:solidFill>
                <a:effectLst/>
                <a:uFillTx/>
                <a:latin typeface="Play"/>
                <a:ea typeface="Play"/>
              </a:rPr>
              <a:t>D</a:t>
            </a:r>
            <a:endParaRPr lang="tr-T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74;p8"/>
          <p:cNvSpPr/>
          <p:nvPr/>
        </p:nvSpPr>
        <p:spPr>
          <a:xfrm>
            <a:off x="1790640" y="5162400"/>
            <a:ext cx="2476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Academic Reducer</a:t>
            </a:r>
            <a:endParaRPr lang="tr-T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75;p8"/>
          <p:cNvSpPr/>
          <p:nvPr/>
        </p:nvSpPr>
        <p:spPr>
          <a:xfrm>
            <a:off x="4476600" y="5153040"/>
            <a:ext cx="5524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Tekil sonuçları birleştirip akademik Markdown rapor sentezler.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76;p8"/>
          <p:cNvSpPr/>
          <p:nvPr/>
        </p:nvSpPr>
        <p:spPr>
          <a:xfrm>
            <a:off x="1600200" y="6114960"/>
            <a:ext cx="8286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Bu ayrım, Ollama'nın güçlü olmadığı ağır muhakeme görevlerini dış model havuzuna bırakır.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77;p8"/>
          <p:cNvSpPr/>
          <p:nvPr/>
        </p:nvSpPr>
        <p:spPr>
          <a:xfrm>
            <a:off x="704880" y="6419880"/>
            <a:ext cx="6857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Kaynak: Knowledge-Base/final-knowledge-base.md ve mevcut kod yapısı</a:t>
            </a:r>
            <a:endParaRPr lang="tr-TR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83;p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184;p9"/>
          <p:cNvSpPr/>
          <p:nvPr/>
        </p:nvSpPr>
        <p:spPr>
          <a:xfrm>
            <a:off x="0" y="0"/>
            <a:ext cx="12191760" cy="95040"/>
          </a:xfrm>
          <a:prstGeom prst="rect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7520" bIns="4752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185;p9"/>
          <p:cNvSpPr/>
          <p:nvPr/>
        </p:nvSpPr>
        <p:spPr>
          <a:xfrm>
            <a:off x="704880" y="34308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MED-AGENTLAB FINAL SUNUM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186;p9"/>
          <p:cNvSpPr/>
          <p:nvPr/>
        </p:nvSpPr>
        <p:spPr>
          <a:xfrm>
            <a:off x="10858680" y="343080"/>
            <a:ext cx="6091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07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187;p9"/>
          <p:cNvSpPr/>
          <p:nvPr/>
        </p:nvSpPr>
        <p:spPr>
          <a:xfrm>
            <a:off x="704880" y="819000"/>
            <a:ext cx="971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Mo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del 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Ro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ute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r: 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kot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a 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dol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unc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a iş 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akı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şı 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dağ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ılm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ada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n 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dev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am 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ede</a:t>
            </a: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r</a:t>
            </a:r>
            <a:endParaRPr lang="tr-T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88;p9"/>
          <p:cNvSpPr/>
          <p:nvPr/>
        </p:nvSpPr>
        <p:spPr>
          <a:xfrm>
            <a:off x="723960" y="1428840"/>
            <a:ext cx="9334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get_model_pool ve call_model_pool görev bazlı model listelerini sırayla dener.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89;p9"/>
          <p:cNvSpPr/>
          <p:nvPr/>
        </p:nvSpPr>
        <p:spPr>
          <a:xfrm>
            <a:off x="1028880" y="2266920"/>
            <a:ext cx="2914200" cy="2571480"/>
          </a:xfrm>
          <a:prstGeom prst="roundRect">
            <a:avLst>
              <a:gd name="adj" fmla="val 2963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190;p9"/>
          <p:cNvSpPr/>
          <p:nvPr/>
        </p:nvSpPr>
        <p:spPr>
          <a:xfrm>
            <a:off x="1314360" y="2495520"/>
            <a:ext cx="2190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Theme Pool</a:t>
            </a:r>
            <a:endParaRPr lang="tr-T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191;p9"/>
          <p:cNvSpPr/>
          <p:nvPr/>
        </p:nvSpPr>
        <p:spPr>
          <a:xfrm>
            <a:off x="1314360" y="3029040"/>
            <a:ext cx="1999800" cy="323640"/>
          </a:xfrm>
          <a:prstGeom prst="roundRect">
            <a:avLst>
              <a:gd name="adj" fmla="val 50000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192;p9"/>
          <p:cNvSpPr/>
          <p:nvPr/>
        </p:nvSpPr>
        <p:spPr>
          <a:xfrm>
            <a:off x="1314360" y="3038400"/>
            <a:ext cx="19998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THEME_MODEL_POOL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193;p9"/>
          <p:cNvSpPr/>
          <p:nvPr/>
        </p:nvSpPr>
        <p:spPr>
          <a:xfrm>
            <a:off x="1333440" y="3562200"/>
            <a:ext cx="21902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Tema çıkarımı için dış model havuzu.</a:t>
            </a:r>
            <a:endParaRPr lang="tr-T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94;p9"/>
          <p:cNvSpPr/>
          <p:nvPr/>
        </p:nvSpPr>
        <p:spPr>
          <a:xfrm>
            <a:off x="4648320" y="2266920"/>
            <a:ext cx="2914200" cy="2571480"/>
          </a:xfrm>
          <a:prstGeom prst="roundRect">
            <a:avLst>
              <a:gd name="adj" fmla="val 2963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195;p9"/>
          <p:cNvSpPr/>
          <p:nvPr/>
        </p:nvSpPr>
        <p:spPr>
          <a:xfrm>
            <a:off x="4933800" y="2495520"/>
            <a:ext cx="2285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Validation Pool</a:t>
            </a:r>
            <a:endParaRPr lang="tr-T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196;p9"/>
          <p:cNvSpPr/>
          <p:nvPr/>
        </p:nvSpPr>
        <p:spPr>
          <a:xfrm>
            <a:off x="4933800" y="3029040"/>
            <a:ext cx="2342880" cy="323640"/>
          </a:xfrm>
          <a:prstGeom prst="roundRect">
            <a:avLst>
              <a:gd name="adj" fmla="val 50000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197;p9"/>
          <p:cNvSpPr/>
          <p:nvPr/>
        </p:nvSpPr>
        <p:spPr>
          <a:xfrm>
            <a:off x="4933800" y="3038400"/>
            <a:ext cx="23428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VALIDATION_MODEL_POOL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198;p9"/>
          <p:cNvSpPr/>
          <p:nvPr/>
        </p:nvSpPr>
        <p:spPr>
          <a:xfrm>
            <a:off x="4952880" y="3562200"/>
            <a:ext cx="21902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PubMed bağlamıyla doğrulama açıklaması üretir.</a:t>
            </a:r>
            <a:endParaRPr lang="tr-T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199;p9"/>
          <p:cNvSpPr/>
          <p:nvPr/>
        </p:nvSpPr>
        <p:spPr>
          <a:xfrm>
            <a:off x="8267760" y="2266920"/>
            <a:ext cx="2914200" cy="2571480"/>
          </a:xfrm>
          <a:prstGeom prst="roundRect">
            <a:avLst>
              <a:gd name="adj" fmla="val 2963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00;p9"/>
          <p:cNvSpPr/>
          <p:nvPr/>
        </p:nvSpPr>
        <p:spPr>
          <a:xfrm>
            <a:off x="8553600" y="2495520"/>
            <a:ext cx="2285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Reduction Pool</a:t>
            </a:r>
            <a:endParaRPr lang="tr-T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01;p9"/>
          <p:cNvSpPr/>
          <p:nvPr/>
        </p:nvSpPr>
        <p:spPr>
          <a:xfrm>
            <a:off x="8553600" y="3029040"/>
            <a:ext cx="2247480" cy="323640"/>
          </a:xfrm>
          <a:prstGeom prst="roundRect">
            <a:avLst>
              <a:gd name="adj" fmla="val 50000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02;p9"/>
          <p:cNvSpPr/>
          <p:nvPr/>
        </p:nvSpPr>
        <p:spPr>
          <a:xfrm>
            <a:off x="8553600" y="3038400"/>
            <a:ext cx="2247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34D399"/>
                </a:solidFill>
                <a:effectLst/>
                <a:uFillTx/>
                <a:latin typeface="Arial"/>
                <a:ea typeface="Arial"/>
              </a:rPr>
              <a:t>REDUCTION_MODEL_POOL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03;p9"/>
          <p:cNvSpPr/>
          <p:nvPr/>
        </p:nvSpPr>
        <p:spPr>
          <a:xfrm>
            <a:off x="8572680" y="3562200"/>
            <a:ext cx="21902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Toplu sonuçlardan rapor sentezi üretir.</a:t>
            </a:r>
            <a:endParaRPr lang="tr-T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04;p9"/>
          <p:cNvSpPr/>
          <p:nvPr/>
        </p:nvSpPr>
        <p:spPr>
          <a:xfrm>
            <a:off x="1695600" y="5372280"/>
            <a:ext cx="8667360" cy="28080"/>
          </a:xfrm>
          <a:prstGeom prst="rect">
            <a:avLst/>
          </a:prstGeom>
          <a:solidFill>
            <a:srgbClr val="6170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05;p9"/>
          <p:cNvSpPr/>
          <p:nvPr/>
        </p:nvSpPr>
        <p:spPr>
          <a:xfrm>
            <a:off x="1428840" y="5657760"/>
            <a:ext cx="93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Fallback mantığı: önce model havuzu denenir; hata, kota veya erişim sorunu varsa yerel/deterministik destek mekanizmasına geçilir.</a:t>
            </a:r>
            <a:endParaRPr lang="tr-T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06;p9"/>
          <p:cNvSpPr/>
          <p:nvPr/>
        </p:nvSpPr>
        <p:spPr>
          <a:xfrm>
            <a:off x="704880" y="6419880"/>
            <a:ext cx="6857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Kaynak: </a:t>
            </a:r>
            <a:r>
              <a:rPr lang="en-US" sz="820" b="0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Knowledge-</a:t>
            </a:r>
            <a:r>
              <a:rPr lang="en-US" sz="820" b="0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Base/final-</a:t>
            </a:r>
            <a:r>
              <a:rPr lang="en-US" sz="820" b="0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knowledge-</a:t>
            </a:r>
            <a:r>
              <a:rPr lang="en-US" sz="820" b="0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base.md ve </a:t>
            </a:r>
            <a:r>
              <a:rPr lang="en-US" sz="820" b="0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mevcut kod </a:t>
            </a:r>
            <a:r>
              <a:rPr lang="en-US" sz="820" b="0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yapısı</a:t>
            </a:r>
            <a:endParaRPr lang="tr-TR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212;p1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13;p10"/>
          <p:cNvSpPr/>
          <p:nvPr/>
        </p:nvSpPr>
        <p:spPr>
          <a:xfrm>
            <a:off x="0" y="0"/>
            <a:ext cx="12191760" cy="95040"/>
          </a:xfrm>
          <a:prstGeom prst="rect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7520" bIns="4752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14;p10"/>
          <p:cNvSpPr/>
          <p:nvPr/>
        </p:nvSpPr>
        <p:spPr>
          <a:xfrm>
            <a:off x="704880" y="34308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MED-AGENTLAB FINAL SUNUM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15;p10"/>
          <p:cNvSpPr/>
          <p:nvPr/>
        </p:nvSpPr>
        <p:spPr>
          <a:xfrm>
            <a:off x="10858680" y="343080"/>
            <a:ext cx="6091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08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16;p10"/>
          <p:cNvSpPr/>
          <p:nvPr/>
        </p:nvSpPr>
        <p:spPr>
          <a:xfrm>
            <a:off x="704880" y="819000"/>
            <a:ext cx="971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Ollama'nın rolü: yerel, hafif ve gizlilik odaklı</a:t>
            </a:r>
            <a:endParaRPr lang="tr-T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17;p10"/>
          <p:cNvSpPr/>
          <p:nvPr/>
        </p:nvSpPr>
        <p:spPr>
          <a:xfrm>
            <a:off x="723960" y="1428840"/>
            <a:ext cx="9334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Projede Ollama ağır raporlama ajanı değil; ilk temas noktası olan gizlilik/ön işleme ajanıdır.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218;p10"/>
          <p:cNvSpPr/>
          <p:nvPr/>
        </p:nvSpPr>
        <p:spPr>
          <a:xfrm>
            <a:off x="876240" y="2305080"/>
            <a:ext cx="4762080" cy="2381040"/>
          </a:xfrm>
          <a:prstGeom prst="roundRect">
            <a:avLst>
              <a:gd name="adj" fmla="val 3200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219;p10"/>
          <p:cNvSpPr/>
          <p:nvPr/>
        </p:nvSpPr>
        <p:spPr>
          <a:xfrm>
            <a:off x="1219320" y="2590920"/>
            <a:ext cx="28573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34D399"/>
                </a:solidFill>
                <a:effectLst/>
                <a:uFillTx/>
                <a:latin typeface="Play"/>
                <a:ea typeface="Play"/>
              </a:rPr>
              <a:t>Ollama</a:t>
            </a:r>
            <a:endParaRPr lang="tr-TR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20;p10"/>
          <p:cNvSpPr/>
          <p:nvPr/>
        </p:nvSpPr>
        <p:spPr>
          <a:xfrm>
            <a:off x="1238400" y="3314880"/>
            <a:ext cx="37144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Agent A içinde çalışır. Varsayılan model OLLAMA_MODEL, yoksa ollama/qwen3:4b.</a:t>
            </a:r>
            <a:endParaRPr lang="tr-T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21;p10"/>
          <p:cNvSpPr/>
          <p:nvPr/>
        </p:nvSpPr>
        <p:spPr>
          <a:xfrm>
            <a:off x="1238400" y="4057560"/>
            <a:ext cx="37620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Analiz başlamadan önce ensure_ollama_service ile hazır olup olmadığı kontrol edilir.</a:t>
            </a:r>
            <a:endParaRPr lang="tr-T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22;p10"/>
          <p:cNvSpPr/>
          <p:nvPr/>
        </p:nvSpPr>
        <p:spPr>
          <a:xfrm>
            <a:off x="6553080" y="2305080"/>
            <a:ext cx="4762080" cy="2381040"/>
          </a:xfrm>
          <a:prstGeom prst="roundRect">
            <a:avLst>
              <a:gd name="adj" fmla="val 3200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23;p10"/>
          <p:cNvSpPr/>
          <p:nvPr/>
        </p:nvSpPr>
        <p:spPr>
          <a:xfrm>
            <a:off x="6896160" y="2590920"/>
            <a:ext cx="28573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C8102E"/>
                </a:solidFill>
                <a:effectLst/>
                <a:uFillTx/>
                <a:latin typeface="Play"/>
                <a:ea typeface="Play"/>
              </a:rPr>
              <a:t>Sınır</a:t>
            </a:r>
            <a:endParaRPr lang="tr-TR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24;p10"/>
          <p:cNvSpPr/>
          <p:nvPr/>
        </p:nvSpPr>
        <p:spPr>
          <a:xfrm>
            <a:off x="6915240" y="3314880"/>
            <a:ext cx="371448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Ollama güçsüz kaldığı ağır muhakeme, PubMed doğrulama ve rapor sentezi görevleri dış model havuzuna bırakılır.</a:t>
            </a:r>
            <a:endParaRPr lang="tr-T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25;p10"/>
          <p:cNvSpPr/>
          <p:nvPr/>
        </p:nvSpPr>
        <p:spPr>
          <a:xfrm>
            <a:off x="1390680" y="5457960"/>
            <a:ext cx="85320" cy="8532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0240" bIns="30240" anchor="ctr">
            <a:noAutofit/>
          </a:bodyPr>
          <a:p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26;p10"/>
          <p:cNvSpPr/>
          <p:nvPr/>
        </p:nvSpPr>
        <p:spPr>
          <a:xfrm>
            <a:off x="1619280" y="5372280"/>
            <a:ext cx="83437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Bu dağılım yerel gizlilik kozunu korur, ağır işleri daha güçlü modellerle yürütür.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27;p10"/>
          <p:cNvSpPr/>
          <p:nvPr/>
        </p:nvSpPr>
        <p:spPr>
          <a:xfrm>
            <a:off x="704880" y="6419880"/>
            <a:ext cx="6857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Kaynak: Knowledge-Base/final-knowledge-base.md ve mevcut kod yapısı</a:t>
            </a:r>
            <a:endParaRPr lang="tr-TR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233;p1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34;p11"/>
          <p:cNvSpPr/>
          <p:nvPr/>
        </p:nvSpPr>
        <p:spPr>
          <a:xfrm>
            <a:off x="0" y="0"/>
            <a:ext cx="12191760" cy="95040"/>
          </a:xfrm>
          <a:prstGeom prst="rect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7520" bIns="4752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35;p11"/>
          <p:cNvSpPr/>
          <p:nvPr/>
        </p:nvSpPr>
        <p:spPr>
          <a:xfrm>
            <a:off x="704880" y="34308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MED-AGENTLAB FINAL SUNUM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36;p11"/>
          <p:cNvSpPr/>
          <p:nvPr/>
        </p:nvSpPr>
        <p:spPr>
          <a:xfrm>
            <a:off x="10858680" y="343080"/>
            <a:ext cx="6091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09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37;p11"/>
          <p:cNvSpPr/>
          <p:nvPr/>
        </p:nvSpPr>
        <p:spPr>
          <a:xfrm>
            <a:off x="704880" y="819000"/>
            <a:ext cx="971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Arayüz: sunumda gösterilebilir tek ekranlı deneyim</a:t>
            </a:r>
            <a:endParaRPr lang="tr-T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38;p11"/>
          <p:cNvSpPr/>
          <p:nvPr/>
        </p:nvSpPr>
        <p:spPr>
          <a:xfrm>
            <a:off x="723960" y="1428840"/>
            <a:ext cx="9334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frontend/index.html dosyası analiz başlatma, iş takibi, sonuç görüntüleme ve indirme akışlarını taşır.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39;p11"/>
          <p:cNvSpPr/>
          <p:nvPr/>
        </p:nvSpPr>
        <p:spPr>
          <a:xfrm>
            <a:off x="857160" y="2190600"/>
            <a:ext cx="3238200" cy="2952360"/>
          </a:xfrm>
          <a:prstGeom prst="roundRect">
            <a:avLst>
              <a:gd name="adj" fmla="val 2581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40;p11"/>
          <p:cNvSpPr/>
          <p:nvPr/>
        </p:nvSpPr>
        <p:spPr>
          <a:xfrm>
            <a:off x="1143000" y="2457360"/>
            <a:ext cx="8568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5EEAD4"/>
                </a:solidFill>
                <a:effectLst/>
                <a:uFillTx/>
                <a:latin typeface="Play"/>
                <a:ea typeface="Play"/>
              </a:rPr>
              <a:t>01</a:t>
            </a:r>
            <a:endParaRPr lang="tr-T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41;p11"/>
          <p:cNvSpPr/>
          <p:nvPr/>
        </p:nvSpPr>
        <p:spPr>
          <a:xfrm>
            <a:off x="1143000" y="3086280"/>
            <a:ext cx="2285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Dosya yükle</a:t>
            </a:r>
            <a:endParaRPr lang="tr-T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42;p11"/>
          <p:cNvSpPr/>
          <p:nvPr/>
        </p:nvSpPr>
        <p:spPr>
          <a:xfrm>
            <a:off x="1143000" y="3581280"/>
            <a:ext cx="21902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Excel odaklı yükleme deneyimi ve analiz başlatma butonu.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243;p11"/>
          <p:cNvSpPr/>
          <p:nvPr/>
        </p:nvSpPr>
        <p:spPr>
          <a:xfrm>
            <a:off x="1143000" y="4438800"/>
            <a:ext cx="1047240" cy="323640"/>
          </a:xfrm>
          <a:prstGeom prst="roundRect">
            <a:avLst>
              <a:gd name="adj" fmla="val 50000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44;p11"/>
          <p:cNvSpPr/>
          <p:nvPr/>
        </p:nvSpPr>
        <p:spPr>
          <a:xfrm>
            <a:off x="1143000" y="4448160"/>
            <a:ext cx="10472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upload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45;p11"/>
          <p:cNvSpPr/>
          <p:nvPr/>
        </p:nvSpPr>
        <p:spPr>
          <a:xfrm>
            <a:off x="4476600" y="2190600"/>
            <a:ext cx="3238200" cy="2952360"/>
          </a:xfrm>
          <a:prstGeom prst="roundRect">
            <a:avLst>
              <a:gd name="adj" fmla="val 2581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46;p11"/>
          <p:cNvSpPr/>
          <p:nvPr/>
        </p:nvSpPr>
        <p:spPr>
          <a:xfrm>
            <a:off x="4762440" y="2457360"/>
            <a:ext cx="8568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4D399"/>
                </a:solidFill>
                <a:effectLst/>
                <a:uFillTx/>
                <a:latin typeface="Play"/>
                <a:ea typeface="Play"/>
              </a:rPr>
              <a:t>02</a:t>
            </a:r>
            <a:endParaRPr lang="tr-T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47;p11"/>
          <p:cNvSpPr/>
          <p:nvPr/>
        </p:nvSpPr>
        <p:spPr>
          <a:xfrm>
            <a:off x="4762440" y="3086280"/>
            <a:ext cx="2285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Durumu izle</a:t>
            </a:r>
            <a:endParaRPr lang="tr-T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248;p11"/>
          <p:cNvSpPr/>
          <p:nvPr/>
        </p:nvSpPr>
        <p:spPr>
          <a:xfrm>
            <a:off x="4762440" y="3581280"/>
            <a:ext cx="219024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Polling ile progress, loglar, router olayları ve iptal akışı takip edilir.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49;p11"/>
          <p:cNvSpPr/>
          <p:nvPr/>
        </p:nvSpPr>
        <p:spPr>
          <a:xfrm>
            <a:off x="4762440" y="4438800"/>
            <a:ext cx="1428480" cy="323640"/>
          </a:xfrm>
          <a:prstGeom prst="roundRect">
            <a:avLst>
              <a:gd name="adj" fmla="val 50000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50;p11"/>
          <p:cNvSpPr/>
          <p:nvPr/>
        </p:nvSpPr>
        <p:spPr>
          <a:xfrm>
            <a:off x="4762440" y="4448160"/>
            <a:ext cx="1428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34D399"/>
                </a:solidFill>
                <a:effectLst/>
                <a:uFillTx/>
                <a:latin typeface="Arial"/>
                <a:ea typeface="Arial"/>
              </a:rPr>
              <a:t>status + cancel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51;p11"/>
          <p:cNvSpPr/>
          <p:nvPr/>
        </p:nvSpPr>
        <p:spPr>
          <a:xfrm>
            <a:off x="8096400" y="2190600"/>
            <a:ext cx="3238200" cy="2952360"/>
          </a:xfrm>
          <a:prstGeom prst="roundRect">
            <a:avLst>
              <a:gd name="adj" fmla="val 2581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52;p11"/>
          <p:cNvSpPr/>
          <p:nvPr/>
        </p:nvSpPr>
        <p:spPr>
          <a:xfrm>
            <a:off x="8381880" y="2457360"/>
            <a:ext cx="8568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BBF24"/>
                </a:solidFill>
                <a:effectLst/>
                <a:uFillTx/>
                <a:latin typeface="Play"/>
                <a:ea typeface="Play"/>
              </a:rPr>
              <a:t>03</a:t>
            </a:r>
            <a:endParaRPr lang="tr-T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253;p11"/>
          <p:cNvSpPr/>
          <p:nvPr/>
        </p:nvSpPr>
        <p:spPr>
          <a:xfrm>
            <a:off x="8381880" y="3086280"/>
            <a:ext cx="2285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Sonucu indir</a:t>
            </a:r>
            <a:endParaRPr lang="tr-T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Google Shape;254;p11"/>
          <p:cNvSpPr/>
          <p:nvPr/>
        </p:nvSpPr>
        <p:spPr>
          <a:xfrm>
            <a:off x="8381880" y="3581280"/>
            <a:ext cx="219024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Tablo, rapor, grafik, Router &amp; Gizlilik paneli ve Excel/MD/DOCX indirme.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255;p11"/>
          <p:cNvSpPr/>
          <p:nvPr/>
        </p:nvSpPr>
        <p:spPr>
          <a:xfrm>
            <a:off x="8381880" y="4438800"/>
            <a:ext cx="1618920" cy="323640"/>
          </a:xfrm>
          <a:prstGeom prst="roundRect">
            <a:avLst>
              <a:gd name="adj" fmla="val 50000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256;p11"/>
          <p:cNvSpPr/>
          <p:nvPr/>
        </p:nvSpPr>
        <p:spPr>
          <a:xfrm>
            <a:off x="8381880" y="4448160"/>
            <a:ext cx="16189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xlsx + md + docx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257;p11"/>
          <p:cNvSpPr/>
          <p:nvPr/>
        </p:nvSpPr>
        <p:spPr>
          <a:xfrm>
            <a:off x="704880" y="6419880"/>
            <a:ext cx="6857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Kaynak: Knowledge-Base/final-knowledge-base.md ve mevcut kod yapısı</a:t>
            </a:r>
            <a:endParaRPr lang="tr-TR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63;p1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64;p12"/>
          <p:cNvSpPr/>
          <p:nvPr/>
        </p:nvSpPr>
        <p:spPr>
          <a:xfrm>
            <a:off x="0" y="0"/>
            <a:ext cx="12191760" cy="95040"/>
          </a:xfrm>
          <a:prstGeom prst="rect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7520" bIns="4752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65;p12"/>
          <p:cNvSpPr/>
          <p:nvPr/>
        </p:nvSpPr>
        <p:spPr>
          <a:xfrm>
            <a:off x="704880" y="34308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MED-AGENTLAB FINAL SUNUM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66;p12"/>
          <p:cNvSpPr/>
          <p:nvPr/>
        </p:nvSpPr>
        <p:spPr>
          <a:xfrm>
            <a:off x="10858680" y="343080"/>
            <a:ext cx="6091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67;p12"/>
          <p:cNvSpPr/>
          <p:nvPr/>
        </p:nvSpPr>
        <p:spPr>
          <a:xfrm>
            <a:off x="704880" y="819000"/>
            <a:ext cx="971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Koddan kanıt: final halde gerçekten bulunan parçalar</a:t>
            </a:r>
            <a:endParaRPr lang="tr-T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268;p12"/>
          <p:cNvSpPr/>
          <p:nvPr/>
        </p:nvSpPr>
        <p:spPr>
          <a:xfrm>
            <a:off x="723960" y="1428840"/>
            <a:ext cx="9334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Bu sunumdaki özellikler final knowledge base ve mevcut kod yapısına göre anlatılmıştır.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269;p12"/>
          <p:cNvSpPr/>
          <p:nvPr/>
        </p:nvSpPr>
        <p:spPr>
          <a:xfrm>
            <a:off x="781200" y="2152800"/>
            <a:ext cx="4952520" cy="2857320"/>
          </a:xfrm>
          <a:prstGeom prst="roundRect">
            <a:avLst>
              <a:gd name="adj" fmla="val 2667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270;p12"/>
          <p:cNvSpPr/>
          <p:nvPr/>
        </p:nvSpPr>
        <p:spPr>
          <a:xfrm>
            <a:off x="1104840" y="2314440"/>
            <a:ext cx="3047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app.py içinde</a:t>
            </a:r>
            <a:endParaRPr lang="tr-T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271;p12"/>
          <p:cNvSpPr/>
          <p:nvPr/>
        </p:nvSpPr>
        <p:spPr>
          <a:xfrm>
            <a:off x="1104840" y="3076560"/>
            <a:ext cx="85320" cy="8532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0240" bIns="30240" anchor="ctr">
            <a:noAutofit/>
          </a:bodyPr>
          <a:p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272;p12"/>
          <p:cNvSpPr/>
          <p:nvPr/>
        </p:nvSpPr>
        <p:spPr>
          <a:xfrm>
            <a:off x="1333440" y="2800440"/>
            <a:ext cx="37717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AgentA_PrivacyScrubber, AgentB_ThematicMapper, AgentC_PubMedValidator, AgentD_AcademicReducer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273;p12"/>
          <p:cNvSpPr/>
          <p:nvPr/>
        </p:nvSpPr>
        <p:spPr>
          <a:xfrm>
            <a:off x="1104840" y="3895560"/>
            <a:ext cx="85320" cy="85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0240" bIns="30240" anchor="ctr">
            <a:noAutofit/>
          </a:bodyPr>
          <a:p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274;p12"/>
          <p:cNvSpPr/>
          <p:nvPr/>
        </p:nvSpPr>
        <p:spPr>
          <a:xfrm>
            <a:off x="1333440" y="3809880"/>
            <a:ext cx="37717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get_model_pool, call_model_pool ve router event kaydı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275;p12"/>
          <p:cNvSpPr/>
          <p:nvPr/>
        </p:nvSpPr>
        <p:spPr>
          <a:xfrm>
            <a:off x="1104840" y="4562640"/>
            <a:ext cx="85320" cy="8532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0240" bIns="30240" anchor="ctr">
            <a:noAutofit/>
          </a:bodyPr>
          <a:p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276;p12"/>
          <p:cNvSpPr/>
          <p:nvPr/>
        </p:nvSpPr>
        <p:spPr>
          <a:xfrm>
            <a:off x="1333440" y="4476600"/>
            <a:ext cx="37717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/upload, /status, /results, /download, /cancel, /health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77;p12"/>
          <p:cNvSpPr/>
          <p:nvPr/>
        </p:nvSpPr>
        <p:spPr>
          <a:xfrm>
            <a:off x="6458040" y="2152800"/>
            <a:ext cx="4952520" cy="2857320"/>
          </a:xfrm>
          <a:prstGeom prst="roundRect">
            <a:avLst>
              <a:gd name="adj" fmla="val 2667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278;p12"/>
          <p:cNvSpPr/>
          <p:nvPr/>
        </p:nvSpPr>
        <p:spPr>
          <a:xfrm>
            <a:off x="6743880" y="2400480"/>
            <a:ext cx="3428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frontend/index.html içinde</a:t>
            </a:r>
            <a:endParaRPr lang="tr-T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279;p12"/>
          <p:cNvSpPr/>
          <p:nvPr/>
        </p:nvSpPr>
        <p:spPr>
          <a:xfrm>
            <a:off x="6781680" y="3076560"/>
            <a:ext cx="85320" cy="8532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0240" bIns="30240" anchor="ctr">
            <a:noAutofit/>
          </a:bodyPr>
          <a:p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280;p12"/>
          <p:cNvSpPr/>
          <p:nvPr/>
        </p:nvSpPr>
        <p:spPr>
          <a:xfrm>
            <a:off x="7010280" y="2990880"/>
            <a:ext cx="35809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İş geçmişi, progress kartı ve iptal butonu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281;p12"/>
          <p:cNvSpPr/>
          <p:nvPr/>
        </p:nvSpPr>
        <p:spPr>
          <a:xfrm>
            <a:off x="6781680" y="3762360"/>
            <a:ext cx="85320" cy="85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0240" bIns="30240" anchor="ctr">
            <a:noAutofit/>
          </a:bodyPr>
          <a:p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282;p12"/>
          <p:cNvSpPr/>
          <p:nvPr/>
        </p:nvSpPr>
        <p:spPr>
          <a:xfrm>
            <a:off x="7010280" y="3676680"/>
            <a:ext cx="35809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Router &amp; Gizlilik paneli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283;p12"/>
          <p:cNvSpPr/>
          <p:nvPr/>
        </p:nvSpPr>
        <p:spPr>
          <a:xfrm>
            <a:off x="6781680" y="4448160"/>
            <a:ext cx="85320" cy="8532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0240" bIns="30240" anchor="ctr">
            <a:noAutofit/>
          </a:bodyPr>
          <a:p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284;p12"/>
          <p:cNvSpPr/>
          <p:nvPr/>
        </p:nvSpPr>
        <p:spPr>
          <a:xfrm>
            <a:off x="7010280" y="4362480"/>
            <a:ext cx="35809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Excel, Markdown ve Word indirme aksiyonları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285;p12"/>
          <p:cNvSpPr/>
          <p:nvPr/>
        </p:nvSpPr>
        <p:spPr>
          <a:xfrm>
            <a:off x="1523880" y="5676840"/>
            <a:ext cx="87627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Hasta verisi, upload çıktıları, DB ve .env dosyaları GitHub'a dahil edilmez.</a:t>
            </a:r>
            <a:endParaRPr lang="tr-T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286;p12"/>
          <p:cNvSpPr/>
          <p:nvPr/>
        </p:nvSpPr>
        <p:spPr>
          <a:xfrm>
            <a:off x="704880" y="6419880"/>
            <a:ext cx="6857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Kaynak: Knowledge-Base/final-knowledge-base.md ve mevcut kod yapısı</a:t>
            </a:r>
            <a:endParaRPr lang="tr-TR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92;p1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293;p13"/>
          <p:cNvSpPr/>
          <p:nvPr/>
        </p:nvSpPr>
        <p:spPr>
          <a:xfrm>
            <a:off x="0" y="0"/>
            <a:ext cx="12191760" cy="95040"/>
          </a:xfrm>
          <a:prstGeom prst="rect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7520" bIns="4752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294;p13"/>
          <p:cNvSpPr/>
          <p:nvPr/>
        </p:nvSpPr>
        <p:spPr>
          <a:xfrm>
            <a:off x="704880" y="34308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MED-AGENTLAB FINAL SUNUM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295;p13"/>
          <p:cNvSpPr/>
          <p:nvPr/>
        </p:nvSpPr>
        <p:spPr>
          <a:xfrm>
            <a:off x="10858680" y="343080"/>
            <a:ext cx="6091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296;p13"/>
          <p:cNvSpPr/>
          <p:nvPr/>
        </p:nvSpPr>
        <p:spPr>
          <a:xfrm>
            <a:off x="704880" y="819000"/>
            <a:ext cx="971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Sınırlamalar: prototipin dürüst sınırları</a:t>
            </a:r>
            <a:endParaRPr lang="tr-T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297;p13"/>
          <p:cNvSpPr/>
          <p:nvPr/>
        </p:nvSpPr>
        <p:spPr>
          <a:xfrm>
            <a:off x="723960" y="1428840"/>
            <a:ext cx="9334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Final sunumda iddia değil, çalışan prototip ve bilinen sınır anlatılmalıdır.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298;p13"/>
          <p:cNvSpPr/>
          <p:nvPr/>
        </p:nvSpPr>
        <p:spPr>
          <a:xfrm>
            <a:off x="933480" y="2324160"/>
            <a:ext cx="4762080" cy="1142640"/>
          </a:xfrm>
          <a:prstGeom prst="roundRect">
            <a:avLst>
              <a:gd name="adj" fmla="val 6667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299;p13"/>
          <p:cNvSpPr/>
          <p:nvPr/>
        </p:nvSpPr>
        <p:spPr>
          <a:xfrm>
            <a:off x="1162080" y="2552760"/>
            <a:ext cx="68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C8102E"/>
                </a:solidFill>
                <a:effectLst/>
                <a:uFillTx/>
                <a:latin typeface="Play"/>
                <a:ea typeface="Play"/>
              </a:rPr>
              <a:t>01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300;p13"/>
          <p:cNvSpPr/>
          <p:nvPr/>
        </p:nvSpPr>
        <p:spPr>
          <a:xfrm>
            <a:off x="2000160" y="2552760"/>
            <a:ext cx="2857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Anonimleştirme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301;p13"/>
          <p:cNvSpPr/>
          <p:nvPr/>
        </p:nvSpPr>
        <p:spPr>
          <a:xfrm>
            <a:off x="2000160" y="2914560"/>
            <a:ext cx="3142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Regex fallback tam kapsamlı anonimleştirme garantisi vermez.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302;p13"/>
          <p:cNvSpPr/>
          <p:nvPr/>
        </p:nvSpPr>
        <p:spPr>
          <a:xfrm>
            <a:off x="6438960" y="2324160"/>
            <a:ext cx="4762080" cy="1142640"/>
          </a:xfrm>
          <a:prstGeom prst="roundRect">
            <a:avLst>
              <a:gd name="adj" fmla="val 6667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303;p13"/>
          <p:cNvSpPr/>
          <p:nvPr/>
        </p:nvSpPr>
        <p:spPr>
          <a:xfrm>
            <a:off x="6667560" y="2552760"/>
            <a:ext cx="68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EEAD4"/>
                </a:solidFill>
                <a:effectLst/>
                <a:uFillTx/>
                <a:latin typeface="Play"/>
                <a:ea typeface="Play"/>
              </a:rPr>
              <a:t>02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04;p13"/>
          <p:cNvSpPr/>
          <p:nvPr/>
        </p:nvSpPr>
        <p:spPr>
          <a:xfrm>
            <a:off x="7505640" y="2552760"/>
            <a:ext cx="2857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Kota ve erişim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305;p13"/>
          <p:cNvSpPr/>
          <p:nvPr/>
        </p:nvSpPr>
        <p:spPr>
          <a:xfrm>
            <a:off x="7505640" y="2914560"/>
            <a:ext cx="3142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Ücretsiz model API'lerinde limit veya ağ hatası yaşanabilir.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306;p13"/>
          <p:cNvSpPr/>
          <p:nvPr/>
        </p:nvSpPr>
        <p:spPr>
          <a:xfrm>
            <a:off x="933480" y="4000680"/>
            <a:ext cx="4762080" cy="1142640"/>
          </a:xfrm>
          <a:prstGeom prst="roundRect">
            <a:avLst>
              <a:gd name="adj" fmla="val 6667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07;p13"/>
          <p:cNvSpPr/>
          <p:nvPr/>
        </p:nvSpPr>
        <p:spPr>
          <a:xfrm>
            <a:off x="1162080" y="4229280"/>
            <a:ext cx="68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EEAD4"/>
                </a:solidFill>
                <a:effectLst/>
                <a:uFillTx/>
                <a:latin typeface="Play"/>
                <a:ea typeface="Play"/>
              </a:rPr>
              <a:t>03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308;p13"/>
          <p:cNvSpPr/>
          <p:nvPr/>
        </p:nvSpPr>
        <p:spPr>
          <a:xfrm>
            <a:off x="2000160" y="4229280"/>
            <a:ext cx="2857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PubMed bağlamı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309;p13"/>
          <p:cNvSpPr/>
          <p:nvPr/>
        </p:nvSpPr>
        <p:spPr>
          <a:xfrm>
            <a:off x="2000160" y="4591080"/>
            <a:ext cx="3142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Literatür desteği klinik doğruluk garantisi değildir.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10;p13"/>
          <p:cNvSpPr/>
          <p:nvPr/>
        </p:nvSpPr>
        <p:spPr>
          <a:xfrm>
            <a:off x="6438960" y="4000680"/>
            <a:ext cx="4762080" cy="1142640"/>
          </a:xfrm>
          <a:prstGeom prst="roundRect">
            <a:avLst>
              <a:gd name="adj" fmla="val 6667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311;p13"/>
          <p:cNvSpPr/>
          <p:nvPr/>
        </p:nvSpPr>
        <p:spPr>
          <a:xfrm>
            <a:off x="6667560" y="4229280"/>
            <a:ext cx="68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EEAD4"/>
                </a:solidFill>
                <a:effectLst/>
                <a:uFillTx/>
                <a:latin typeface="Play"/>
                <a:ea typeface="Play"/>
              </a:rPr>
              <a:t>04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312;p13"/>
          <p:cNvSpPr/>
          <p:nvPr/>
        </p:nvSpPr>
        <p:spPr>
          <a:xfrm>
            <a:off x="7505640" y="4229280"/>
            <a:ext cx="2857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Kalıcılık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313;p13"/>
          <p:cNvSpPr/>
          <p:nvPr/>
        </p:nvSpPr>
        <p:spPr>
          <a:xfrm>
            <a:off x="7505640" y="4591080"/>
            <a:ext cx="3142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Router olayları için SQLite'ta ayrı kalıcı event şeması yoktur.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314;p13"/>
          <p:cNvSpPr/>
          <p:nvPr/>
        </p:nvSpPr>
        <p:spPr>
          <a:xfrm>
            <a:off x="1428840" y="5676840"/>
            <a:ext cx="93340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Ana mesaj: Sistem klinik karar destek aracı değil; akademik/prototip çıktılar insan kontrolü gerektirir.</a:t>
            </a:r>
            <a:endParaRPr lang="tr-T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315;p13"/>
          <p:cNvSpPr/>
          <p:nvPr/>
        </p:nvSpPr>
        <p:spPr>
          <a:xfrm>
            <a:off x="704880" y="6419880"/>
            <a:ext cx="6857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Kaynak: Knowledge-Base/final-knowledge-base.md ve mevcut kod yapısı</a:t>
            </a:r>
            <a:endParaRPr lang="tr-TR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321;p1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322;p14"/>
          <p:cNvSpPr/>
          <p:nvPr/>
        </p:nvSpPr>
        <p:spPr>
          <a:xfrm>
            <a:off x="0" y="0"/>
            <a:ext cx="12191760" cy="95040"/>
          </a:xfrm>
          <a:prstGeom prst="rect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7520" bIns="4752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323;p14"/>
          <p:cNvSpPr/>
          <p:nvPr/>
        </p:nvSpPr>
        <p:spPr>
          <a:xfrm>
            <a:off x="704880" y="34308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5EEAD4"/>
                </a:solidFill>
                <a:effectLst/>
                <a:uFillTx/>
                <a:latin typeface="Arial"/>
                <a:ea typeface="Arial"/>
              </a:rPr>
              <a:t>MED-AGENTLAB FINAL SUNUM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324;p14"/>
          <p:cNvSpPr/>
          <p:nvPr/>
        </p:nvSpPr>
        <p:spPr>
          <a:xfrm>
            <a:off x="10858680" y="343080"/>
            <a:ext cx="6091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617089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tr-T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25;p14"/>
          <p:cNvSpPr/>
          <p:nvPr/>
        </p:nvSpPr>
        <p:spPr>
          <a:xfrm>
            <a:off x="838080" y="1066680"/>
            <a:ext cx="495252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F8FAFC"/>
                </a:solidFill>
                <a:effectLst/>
                <a:uFillTx/>
                <a:latin typeface="Play"/>
                <a:ea typeface="Play"/>
              </a:rPr>
              <a:t>Kapanış mesajı</a:t>
            </a:r>
            <a:endParaRPr lang="tr-T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26;p14"/>
          <p:cNvSpPr/>
          <p:nvPr/>
        </p:nvSpPr>
        <p:spPr>
          <a:xfrm>
            <a:off x="876240" y="1962000"/>
            <a:ext cx="876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DBE4F0"/>
                </a:solidFill>
                <a:effectLst/>
                <a:uFillTx/>
                <a:latin typeface="Arial"/>
                <a:ea typeface="Arial"/>
              </a:rPr>
              <a:t>Med-AgentLab; gizlilik ön işlemesi, görev bazlı ajanlar, model router havuzu, PubMed bağlamı ve çok formatlı çıktı üretimini tek akışta birleştiren nitel analiz prototipidir.</a:t>
            </a:r>
            <a:endParaRPr lang="tr-T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27;p14"/>
          <p:cNvSpPr/>
          <p:nvPr/>
        </p:nvSpPr>
        <p:spPr>
          <a:xfrm>
            <a:off x="876240" y="3486240"/>
            <a:ext cx="3047760" cy="1428480"/>
          </a:xfrm>
          <a:prstGeom prst="roundRect">
            <a:avLst>
              <a:gd name="adj" fmla="val 5333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328;p14"/>
          <p:cNvSpPr/>
          <p:nvPr/>
        </p:nvSpPr>
        <p:spPr>
          <a:xfrm>
            <a:off x="1181160" y="3649680"/>
            <a:ext cx="2095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Demo akışı</a:t>
            </a:r>
            <a:endParaRPr lang="tr-T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329;p14"/>
          <p:cNvSpPr/>
          <p:nvPr/>
        </p:nvSpPr>
        <p:spPr>
          <a:xfrm>
            <a:off x="1181160" y="4083840"/>
            <a:ext cx="21906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Dosya yükle → analizi başlat → router/gizlilik panelini göster → çıktıları indir.</a:t>
            </a:r>
            <a:endParaRPr lang="tr-T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30;p14"/>
          <p:cNvSpPr/>
          <p:nvPr/>
        </p:nvSpPr>
        <p:spPr>
          <a:xfrm>
            <a:off x="4514760" y="3486240"/>
            <a:ext cx="3047760" cy="1428480"/>
          </a:xfrm>
          <a:prstGeom prst="roundRect">
            <a:avLst>
              <a:gd name="adj" fmla="val 5333"/>
            </a:avLst>
          </a:prstGeom>
          <a:solidFill>
            <a:srgbClr val="111F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331;p14"/>
          <p:cNvSpPr/>
          <p:nvPr/>
        </p:nvSpPr>
        <p:spPr>
          <a:xfrm>
            <a:off x="4819680" y="3649680"/>
            <a:ext cx="2095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Vurgu</a:t>
            </a:r>
            <a:endParaRPr lang="tr-T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332;p14"/>
          <p:cNvSpPr/>
          <p:nvPr/>
        </p:nvSpPr>
        <p:spPr>
          <a:xfrm>
            <a:off x="4819680" y="4083840"/>
            <a:ext cx="21906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Ollama yerel koz; ağır işler model havuzu ve fallback mimarisiyle yönetiliyor.</a:t>
            </a:r>
            <a:endParaRPr lang="tr-T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33;p14"/>
          <p:cNvSpPr/>
          <p:nvPr/>
        </p:nvSpPr>
        <p:spPr>
          <a:xfrm>
            <a:off x="8153280" y="3486240"/>
            <a:ext cx="3047760" cy="1428480"/>
          </a:xfrm>
          <a:prstGeom prst="roundRect">
            <a:avLst>
              <a:gd name="adj" fmla="val 5333"/>
            </a:avLst>
          </a:prstGeom>
          <a:solidFill>
            <a:srgbClr val="1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34;p14"/>
          <p:cNvSpPr/>
          <p:nvPr/>
        </p:nvSpPr>
        <p:spPr>
          <a:xfrm>
            <a:off x="8458200" y="3649680"/>
            <a:ext cx="2095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Son söz</a:t>
            </a:r>
            <a:endParaRPr lang="tr-T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35;p14"/>
          <p:cNvSpPr/>
          <p:nvPr/>
        </p:nvSpPr>
        <p:spPr>
          <a:xfrm>
            <a:off x="8458200" y="4083840"/>
            <a:ext cx="21906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A7B0C0"/>
                </a:solidFill>
                <a:effectLst/>
                <a:uFillTx/>
                <a:latin typeface="Arial"/>
                <a:ea typeface="Arial"/>
              </a:rPr>
              <a:t>Bu proje, kodu çalışan ve sınırları açık bir bitirme projesi prototipidir.</a:t>
            </a:r>
            <a:endParaRPr lang="tr-T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336;p14"/>
          <p:cNvSpPr/>
          <p:nvPr/>
        </p:nvSpPr>
        <p:spPr>
          <a:xfrm>
            <a:off x="876240" y="5619600"/>
            <a:ext cx="1428480" cy="32364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337;p14"/>
          <p:cNvSpPr/>
          <p:nvPr/>
        </p:nvSpPr>
        <p:spPr>
          <a:xfrm>
            <a:off x="876240" y="5629320"/>
            <a:ext cx="1428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Teşekkürler</a:t>
            </a:r>
            <a:endParaRPr lang="tr-T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LibreOffice/26.2.0.3$Windows_X86_64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tr-TR</dc:language>
  <cp:lastModifiedBy/>
  <dcterms:modified xsi:type="dcterms:W3CDTF">2026-06-10T10:39:33Z</dcterms:modified>
  <cp:revision>2</cp:revision>
  <dc:subject/>
  <dc:title/>
</cp:coreProperties>
</file>