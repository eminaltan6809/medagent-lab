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952500"/>
            <a:ext cx="76200" cy="4953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7750" y="1314450"/>
            <a:ext cx="781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Med-AgentLab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85850" y="2247900"/>
            <a:ext cx="8096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Çok ajanlı nitel analiz ve literatür destekli raporlama prototipi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04900" y="5572125"/>
            <a:ext cx="609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Final proje sunumu | Samsun Üniversitesi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Problem: Klinik görüşmeler çok metin, az zaman üretir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Nitel analiz süreci tekrar eden, yoruma açık ve manuel ilerlediğinde zor ölçeklenen bir iş haline gelir.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42950" y="2324100"/>
            <a:ext cx="3143250" cy="2343150"/>
          </a:xfrm>
          <a:prstGeom prst="roundRect">
            <a:avLst>
              <a:gd fmla="val 3252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14850" y="2324100"/>
            <a:ext cx="3143250" cy="2343150"/>
          </a:xfrm>
          <a:prstGeom prst="roundRect">
            <a:avLst>
              <a:gd fmla="val 3252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286750" y="2324100"/>
            <a:ext cx="3143250" cy="2343150"/>
          </a:xfrm>
          <a:prstGeom prst="roundRect">
            <a:avLst>
              <a:gd fmla="val 3252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90600" y="2571750"/>
            <a:ext cx="66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8102E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90600" y="328612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Ham metinler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90600" y="37528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Excel, TXT veya PDF içeriği analiz için önce okunabilir metne dönüştürülmelidir.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62500" y="2571750"/>
            <a:ext cx="66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762500" y="328612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Gizlilik riski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762500" y="37528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Klinik görüşme metinleri kişisel veri örüntüleri taşıyabilir; işlem öncesi hafifletme gerekir.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34400" y="2571750"/>
            <a:ext cx="66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534400" y="328612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 kotası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534400" y="3752850"/>
            <a:ext cx="2476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Ücretsiz API modellerinde kota ve erişim hatası mümkündür; sistem tek modele bağımlı kalmamalıdır.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57250" y="5343525"/>
            <a:ext cx="85725" cy="85725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85850" y="5257800"/>
            <a:ext cx="948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Bu yüzden proje otomasyon, gizlilik, model havuzu ve literatür bağlamını tek akışta birleştirir.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Amaç: Güvenli ve izlenebilir nitel analiz prototipi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Med-AgentLab klinik görüşme metnini uçtan uca işleyip tematik ve literatür destekli çıktı üretir.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95350" y="2228850"/>
            <a:ext cx="9810750" cy="1905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47750" y="2571750"/>
            <a:ext cx="1381125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047750" y="25812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Girdi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143250" y="2571750"/>
            <a:ext cx="1381125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143250" y="25812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Gizlilik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238750" y="2571750"/>
            <a:ext cx="1381125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238750" y="25812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Tema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7334250" y="2571750"/>
            <a:ext cx="1381125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334250" y="25812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Doğrulama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429750" y="2571750"/>
            <a:ext cx="1381125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429750" y="2581275"/>
            <a:ext cx="138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Rapor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76300" y="3714750"/>
            <a:ext cx="2190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Ana tez</a:t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067050" y="3581400"/>
            <a:ext cx="7734300" cy="1123950"/>
          </a:xfrm>
          <a:prstGeom prst="roundRect">
            <a:avLst>
              <a:gd fmla="val 6780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371850" y="3829050"/>
            <a:ext cx="71247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Tek bir ajan yerine görevleri ayrıştıran, kota dolunca başka modele geçebilen ve Ollama'yı hafif yerel görevde kullanan bir yapı daha sürdürülebilir bir prototip oluşturur.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95350" y="5372100"/>
            <a:ext cx="85725" cy="85725"/>
          </a:xfrm>
          <a:prstGeom prst="roundRect">
            <a:avLst>
              <a:gd fmla="val 50000" name="adj"/>
            </a:avLst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23950" y="5286375"/>
            <a:ext cx="8343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Çıktılar: Excel analiz sonucu, Markdown rapor ve Word rapor.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Final mimari: tek backend, tek frontend, ayrıştırılmış ajan akışı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Aktif servis hedefi app.py; arayüz tek dosyalık frontend/index.html üzerinden çalışır.</a:t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762000" y="2247900"/>
            <a:ext cx="2381250" cy="914400"/>
          </a:xfrm>
          <a:prstGeom prst="roundRect">
            <a:avLst>
              <a:gd fmla="val 8333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971550" y="2362275"/>
            <a:ext cx="1962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frontend/index.html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90600" y="2781300"/>
            <a:ext cx="1924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Yükleme, durum, sonuç ve indirme ekranları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352800" y="2686050"/>
            <a:ext cx="1143000" cy="381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667250" y="2076450"/>
            <a:ext cx="2857500" cy="1257300"/>
          </a:xfrm>
          <a:prstGeom prst="roundRect">
            <a:avLst>
              <a:gd fmla="val 6061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943475" y="2181225"/>
            <a:ext cx="2286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app.py FastAPI Backend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972050" y="272415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API endpoint'leri, background job, SQLite, pipeline ve export işlemleri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715250" y="2686050"/>
            <a:ext cx="1143000" cy="381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9029700" y="2247900"/>
            <a:ext cx="2381250" cy="914400"/>
          </a:xfrm>
          <a:prstGeom prst="roundRect">
            <a:avLst>
              <a:gd fmla="val 8333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258300" y="2362200"/>
            <a:ext cx="188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 ve servisler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9296400" y="2781300"/>
            <a:ext cx="1847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Ollama, Groq/Gemini havuzları, PubMed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428750" y="4095750"/>
            <a:ext cx="12382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28750" y="4105275"/>
            <a:ext cx="1238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uploads/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333750" y="4095750"/>
            <a:ext cx="18097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333750" y="4105275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med_agentlab.db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810250" y="4095750"/>
            <a:ext cx="12382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810250" y="4105275"/>
            <a:ext cx="1238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outputs/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715250" y="4095750"/>
            <a:ext cx="8572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715250" y="4105275"/>
            <a:ext cx="857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.env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619250" y="5143500"/>
            <a:ext cx="8477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Runtime dosyaları Git'e dahil edilmez: yüklemeler, çıktılar, DB, log ve gerçek anahtarlar yerel kalır.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Pipeline: ham veriden rapora kontrollü geçiş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run_pipeline_job analizi background task olarak yürütür; durum ve ilerleme frontend tarafından izlenir.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85800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76300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76300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Dosya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76300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Excel/TXT/PDF alınır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228850" y="3448050"/>
            <a:ext cx="381000" cy="3810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543175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733675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733675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Metin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733675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Okunabilir içeriğe çevrilir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086225" y="3448050"/>
            <a:ext cx="381000" cy="3810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400550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591050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91050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Gizlilik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91050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Ollama + regex fallback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943600" y="3448050"/>
            <a:ext cx="381000" cy="3810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257925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48425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448425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Tema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448425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Model havuzu ile çıkarım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800975" y="3448050"/>
            <a:ext cx="381000" cy="3810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115300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305800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05800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PubMed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305800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Literatür bağlamı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658350" y="3448050"/>
            <a:ext cx="381000" cy="38100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9972675" y="2628900"/>
            <a:ext cx="1485900" cy="1695450"/>
          </a:xfrm>
          <a:prstGeom prst="roundRect">
            <a:avLst>
              <a:gd fmla="val 5128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163175" y="281940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0163175" y="3314700"/>
            <a:ext cx="1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Rapor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0163175" y="3733800"/>
            <a:ext cx="1104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MD/XLSX/DOCX çıktı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238250" y="5067300"/>
            <a:ext cx="9334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Uzun TXT/PDF içerikleri sliding window ile parçalara ayrılır; Excel akışında text_data kolonu önceliklidir.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Ajanlar görev bazlı ayrıldı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Amaç: aynı işi yapan dört ajan değil, farklı riskleri taşıyan dört ayrı sorumluluk.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95350" y="2209800"/>
            <a:ext cx="9620250" cy="685800"/>
          </a:xfrm>
          <a:prstGeom prst="roundRect">
            <a:avLst>
              <a:gd fmla="val 1111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123950" y="2295525"/>
            <a:ext cx="495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790700" y="236220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Privacy Scrubber</a:t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476750" y="235267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Ollama ile hafif yerel gizlilik ön işlemesi; hata durumunda PatternGuard regex fallback.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95350" y="3143250"/>
            <a:ext cx="9620250" cy="685800"/>
          </a:xfrm>
          <a:prstGeom prst="roundRect">
            <a:avLst>
              <a:gd fmla="val 11111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123950" y="3228975"/>
            <a:ext cx="495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B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790700" y="329565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Thematic Mapper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476750" y="328612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Gizlilikten geçmiş metinden ana tema ve alt temaları model havuzu ile çıkarır.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95350" y="4076700"/>
            <a:ext cx="9620250" cy="685800"/>
          </a:xfrm>
          <a:prstGeom prst="roundRect">
            <a:avLst>
              <a:gd fmla="val 1111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123950" y="4162425"/>
            <a:ext cx="495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790700" y="422910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PubMed Validator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476750" y="421957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Temaları PubMed başlıklarıyla literatür bağlamında değerlendirir.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95350" y="5010150"/>
            <a:ext cx="9620250" cy="685800"/>
          </a:xfrm>
          <a:prstGeom prst="roundRect">
            <a:avLst>
              <a:gd fmla="val 11111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123950" y="5095875"/>
            <a:ext cx="495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D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790700" y="516255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Academic Reducer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476750" y="515302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Tekil sonuçları birleştirip akademik Markdown rapor sentezler.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600200" y="6115050"/>
            <a:ext cx="828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Bu ayrım, Ollama'nın güçlü olmadığı ağır muhakeme görevlerini dış model havuzuna bırakır.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Model Router: kota dolunca iş akışı dağılmadan devam eder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get_model_pool ve call_model_pool görev bazlı model listelerini sırayla dener.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028700" y="2266950"/>
            <a:ext cx="2914650" cy="2571750"/>
          </a:xfrm>
          <a:prstGeom prst="roundRect">
            <a:avLst>
              <a:gd fmla="val 2963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314450" y="24955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Theme Pool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314450" y="3028950"/>
            <a:ext cx="20002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1314450" y="30384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THEME_MODEL_POOL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1333500" y="3562350"/>
            <a:ext cx="2190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Tema çıkarımı için dış model havuzu.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648200" y="2266950"/>
            <a:ext cx="2914650" cy="2571750"/>
          </a:xfrm>
          <a:prstGeom prst="roundRect">
            <a:avLst>
              <a:gd fmla="val 2963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933950" y="2495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Validation Pool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933950" y="3028950"/>
            <a:ext cx="23431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933950" y="3038475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VALIDATION_MODEL_POOL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953000" y="3562350"/>
            <a:ext cx="2190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PubMed bağlamıyla doğrulama açıklaması üretir.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8267700" y="2266950"/>
            <a:ext cx="2914650" cy="2571750"/>
          </a:xfrm>
          <a:prstGeom prst="roundRect">
            <a:avLst>
              <a:gd fmla="val 2963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553450" y="2495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Reduction Pool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553450" y="3028950"/>
            <a:ext cx="224790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553450" y="3038475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REDUCTION_MODEL_POOL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572500" y="3562350"/>
            <a:ext cx="2190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Toplu sonuçlardan rapor sentezi üretir.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695450" y="5372100"/>
            <a:ext cx="8667750" cy="28575"/>
          </a:xfrm>
          <a:prstGeom prst="rect">
            <a:avLst/>
          </a:prstGeom>
          <a:solidFill>
            <a:srgbClr val="617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428750" y="5657850"/>
            <a:ext cx="93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Fallback mantığı: önce model havuzu denenir; hata, kota veya erişim sorunu varsa yerel/deterministik destek mekanizmasına geçilir.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Ollama'nın rolü: yerel, hafif ve gizlilik odaklı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Projede Ollama ağır raporlama ajanı değil; ilk temas noktası olan gizlilik/ön işleme ajanıdır.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76300" y="2305050"/>
            <a:ext cx="4762500" cy="2381250"/>
          </a:xfrm>
          <a:prstGeom prst="roundRect">
            <a:avLst>
              <a:gd fmla="val 32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219200" y="2590800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Ollama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238250" y="3314700"/>
            <a:ext cx="3714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Agent A içinde çalışır. Varsayılan model OLLAMA_MODEL, yoksa ollama/qwen3:4b.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238250" y="4057650"/>
            <a:ext cx="3762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Analiz başlamadan önce ensure_ollama_service ile hazır olup olmadığı kontrol edilir.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553200" y="2305050"/>
            <a:ext cx="4762500" cy="2381250"/>
          </a:xfrm>
          <a:prstGeom prst="roundRect">
            <a:avLst>
              <a:gd fmla="val 3200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896100" y="2590800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C8102E"/>
                </a:solidFill>
                <a:latin typeface="Play"/>
                <a:ea typeface="Play"/>
                <a:cs typeface="Play"/>
                <a:sym typeface="Play"/>
              </a:rPr>
              <a:t>Sınır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915150" y="3314700"/>
            <a:ext cx="37147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Ollama güçsüz kaldığı ağır muhakeme, PubMed doğrulama ve rapor sentezi görevleri dış model havuzuna bırakılır.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390650" y="5457825"/>
            <a:ext cx="85725" cy="85725"/>
          </a:xfrm>
          <a:prstGeom prst="roundRect">
            <a:avLst>
              <a:gd fmla="val 50000" name="adj"/>
            </a:avLst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619250" y="5372100"/>
            <a:ext cx="8343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Bu dağılım yerel gizlilik kozunu korur, ağır işleri daha güçlü modellerle yürütür.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Arayüz: sunumda gösterilebilir tek ekranlı deneyim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frontend/index.html dosyası analiz başlatma, iş takibi, sonuç görüntüleme ve indirme akışlarını taşır.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57250" y="2190750"/>
            <a:ext cx="3238500" cy="2952750"/>
          </a:xfrm>
          <a:prstGeom prst="roundRect">
            <a:avLst>
              <a:gd fmla="val 2581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1143000" y="2457450"/>
            <a:ext cx="85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1143000" y="30861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Dosya yükle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1143000" y="3581400"/>
            <a:ext cx="2190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Excel odaklı yükleme deneyimi ve analiz başlatma butonu.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1143000" y="4438650"/>
            <a:ext cx="10477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143000" y="4448175"/>
            <a:ext cx="1047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476750" y="2190750"/>
            <a:ext cx="3238500" cy="2952750"/>
          </a:xfrm>
          <a:prstGeom prst="roundRect">
            <a:avLst>
              <a:gd fmla="val 2581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762500" y="2457450"/>
            <a:ext cx="85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762500" y="30861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Durumu izle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762500" y="35814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Polling ile progress, loglar, router olayları ve iptal akışı takip edilir.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762500" y="443865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762500" y="4448175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status + cancel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8096250" y="2190750"/>
            <a:ext cx="3238500" cy="2952750"/>
          </a:xfrm>
          <a:prstGeom prst="roundRect">
            <a:avLst>
              <a:gd fmla="val 2581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382000" y="2457450"/>
            <a:ext cx="85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BBF24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382000" y="30861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Sonucu indir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8382000" y="35814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Tablo, rapor, grafik, Router &amp; Gizlilik paneli ve Excel/MD/DOCX indirme.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382000" y="4438650"/>
            <a:ext cx="1619250" cy="323850"/>
          </a:xfrm>
          <a:prstGeom prst="roundRect">
            <a:avLst>
              <a:gd fmla="val 50000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382000" y="4448175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xlsx + md + docx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Koddan kanıt: final halde gerçekten bulunan parçalar</a:t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Bu sunumdaki özellikler final knowledge base ve mevcut kod yapısına göre anlatılmıştır.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781050" y="2152650"/>
            <a:ext cx="4953000" cy="2857500"/>
          </a:xfrm>
          <a:prstGeom prst="roundRect">
            <a:avLst>
              <a:gd fmla="val 2667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1104900" y="2314575"/>
            <a:ext cx="3048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app.py içinde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104900" y="3076575"/>
            <a:ext cx="85725" cy="85725"/>
          </a:xfrm>
          <a:prstGeom prst="roundRect">
            <a:avLst>
              <a:gd fmla="val 50000" name="adj"/>
            </a:avLst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333500" y="2800350"/>
            <a:ext cx="3771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AgentA_PrivacyScrubber, AgentB_ThematicMapper, AgentC_PubMedValidator, AgentD_AcademicReducer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1104900" y="3895725"/>
            <a:ext cx="85725" cy="85725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333500" y="3810000"/>
            <a:ext cx="3771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get_model_pool, call_model_pool ve router event kaydı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104900" y="4562475"/>
            <a:ext cx="85725" cy="85725"/>
          </a:xfrm>
          <a:prstGeom prst="roundRect">
            <a:avLst>
              <a:gd fmla="val 50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1333500" y="4476750"/>
            <a:ext cx="3771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/upload, /status, /results, /download, /cancel, /health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457950" y="2152650"/>
            <a:ext cx="4953000" cy="2857500"/>
          </a:xfrm>
          <a:prstGeom prst="roundRect">
            <a:avLst>
              <a:gd fmla="val 2667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743700" y="240030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frontend/index.html içinde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781800" y="3076575"/>
            <a:ext cx="85725" cy="85725"/>
          </a:xfrm>
          <a:prstGeom prst="roundRect">
            <a:avLst>
              <a:gd fmla="val 50000" name="adj"/>
            </a:avLst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010400" y="2990850"/>
            <a:ext cx="358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İş geçmişi, progress kartı ve iptal butonu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6781800" y="3762375"/>
            <a:ext cx="85725" cy="85725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010400" y="3676650"/>
            <a:ext cx="358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Router &amp; Gizlilik paneli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781800" y="4448175"/>
            <a:ext cx="85725" cy="85725"/>
          </a:xfrm>
          <a:prstGeom prst="roundRect">
            <a:avLst>
              <a:gd fmla="val 50000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010400" y="4362450"/>
            <a:ext cx="358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Excel, Markdown ve Word indirme aksiyonları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1524000" y="5676900"/>
            <a:ext cx="876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Hasta verisi, upload çıktıları, DB ve .env dosyaları GitHub'a dahil edilmez.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704850" y="81915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Sınırlamalar: prototipin dürüst sınırları</a:t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723900" y="14287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Final sunumda iddia değil, çalışan prototip ve bilinen sınır anlatılmalıdır.</a:t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933450" y="2324100"/>
            <a:ext cx="4762500" cy="1143000"/>
          </a:xfrm>
          <a:prstGeom prst="roundRect">
            <a:avLst>
              <a:gd fmla="val 6667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1162050" y="25527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8102E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2000250" y="25527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Anonimleştirme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2000250" y="29146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Regex fallback tam kapsamlı anonimleştirme garantisi vermez.</a:t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438900" y="2324100"/>
            <a:ext cx="4762500" cy="1143000"/>
          </a:xfrm>
          <a:prstGeom prst="roundRect">
            <a:avLst>
              <a:gd fmla="val 6667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6667500" y="25527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7505700" y="25527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Kota ve erişim</a:t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7505700" y="29146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Ücretsiz model API'lerinde limit veya ağ hatası yaşanabilir.</a:t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933450" y="4000500"/>
            <a:ext cx="4762500" cy="1143000"/>
          </a:xfrm>
          <a:prstGeom prst="roundRect">
            <a:avLst>
              <a:gd fmla="val 6667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1162050" y="4229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2000250" y="42291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PubMed bağlamı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2000250" y="45910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Literatür desteği klinik doğruluk garantisi değildir.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6438900" y="4000500"/>
            <a:ext cx="4762500" cy="1143000"/>
          </a:xfrm>
          <a:prstGeom prst="roundRect">
            <a:avLst>
              <a:gd fmla="val 6667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667500" y="4229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EEAD4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505700" y="42291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Kalıcılık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7505700" y="45910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Router olayları için SQLite'ta ayrı kalıcı event şeması yoktur.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1428750" y="567690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Ana mesaj: Sistem klinik karar destek aracı değil; akademik/prototip çıktılar insan kontrolü gerektirir.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704850" y="6419850"/>
            <a:ext cx="685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Kaynak: Knowledge-Base/final-knowledge-base.md ve mevcut kod yapısı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704850" y="3429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MED-AGENTLAB FINAL SUNUM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10858500" y="342900"/>
            <a:ext cx="60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1708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838200" y="1066800"/>
            <a:ext cx="4953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Kapanış mesajı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876300" y="1962150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DBE4F0"/>
                </a:solidFill>
                <a:latin typeface="Arial"/>
                <a:ea typeface="Arial"/>
                <a:cs typeface="Arial"/>
                <a:sym typeface="Arial"/>
              </a:rPr>
              <a:t>Med-AgentLab; gizlilik ön işlemesi, görev bazlı ajanlar, model router havuzu, PubMed bağlamı ve çok formatlı çıktı üretimini tek akışta birleştiren nitel analiz prototipidir.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876300" y="3486150"/>
            <a:ext cx="3048000" cy="1428750"/>
          </a:xfrm>
          <a:prstGeom prst="roundRect">
            <a:avLst>
              <a:gd fmla="val 5333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1181100" y="3649650"/>
            <a:ext cx="209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Demo akışı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1181100" y="4083825"/>
            <a:ext cx="219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Dosya yükle → analizi başlat → router/gizlilik panelini göster → çıktıları indir.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4514850" y="3486150"/>
            <a:ext cx="3048000" cy="1428750"/>
          </a:xfrm>
          <a:prstGeom prst="roundRect">
            <a:avLst>
              <a:gd fmla="val 5333" name="adj"/>
            </a:avLst>
          </a:prstGeom>
          <a:solidFill>
            <a:srgbClr val="111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819650" y="3649725"/>
            <a:ext cx="209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Vurgu</a:t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819725" y="4083900"/>
            <a:ext cx="219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Ollama yerel koz; ağır işler model havuzu ve fallback mimarisiyle yönetiliyor.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8153400" y="3486150"/>
            <a:ext cx="3048000" cy="1428900"/>
          </a:xfrm>
          <a:prstGeom prst="roundRect">
            <a:avLst>
              <a:gd fmla="val 5333" name="adj"/>
            </a:avLst>
          </a:prstGeom>
          <a:solidFill>
            <a:srgbClr val="15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8458200" y="3649800"/>
            <a:ext cx="209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Son söz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458350" y="4083975"/>
            <a:ext cx="219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7B0C0"/>
                </a:solidFill>
                <a:latin typeface="Arial"/>
                <a:ea typeface="Arial"/>
                <a:cs typeface="Arial"/>
                <a:sym typeface="Arial"/>
              </a:rPr>
              <a:t>Bu proje, kodu çalışan ve sınırları açık bir bitirme projesi prototipidir.</a:t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876300" y="561975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876300" y="5629275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Teşekkürler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